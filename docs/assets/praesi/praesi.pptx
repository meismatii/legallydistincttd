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0080625" cy="5670550"/>
  <p:notesSz cx="7559675" cy="10691813"/>
  <p:custShowLst>
    <p:custShow name="New Custom Slide Show" id="0">
      <p:sldLst>
        <p:sld r:id="rId6"/>
        <p:sld r:id="rId13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101" y="4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8DC116-8C2D-4FF5-948A-4DE332F07D8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0EA67E-E649-4091-BE8F-D613C128A5B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89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5B23546-DCC2-4AF9-869F-D217B6DA7778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Footer</a:t>
            </a:r>
          </a:p>
        </p:txBody>
      </p:sp>
      <p:pic>
        <p:nvPicPr>
          <p:cNvPr id="6" name="Grafik 5"/>
          <p:cNvPicPr/>
          <p:nvPr/>
        </p:nvPicPr>
        <p:blipFill>
          <a:blip r:embed="rId4"/>
          <a:stretch/>
        </p:blipFill>
        <p:spPr>
          <a:xfrm>
            <a:off x="-180000" y="-450000"/>
            <a:ext cx="10260000" cy="612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6F48611-E480-44B8-A289-CDA078C494F8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‹Nr.›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"/>
          <p:cNvSpPr/>
          <p:nvPr/>
        </p:nvSpPr>
        <p:spPr>
          <a:xfrm>
            <a:off x="1710000" y="2311560"/>
            <a:ext cx="6660000" cy="110844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feld 12"/>
          <p:cNvSpPr txBox="1"/>
          <p:nvPr/>
        </p:nvSpPr>
        <p:spPr>
          <a:xfrm>
            <a:off x="1710000" y="2383560"/>
            <a:ext cx="6662880" cy="92844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en-GB" sz="50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LegallyDistinctTD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5D7B5A2A-199B-DD59-5F34-53FFC3029288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5B23546-DCC2-4AF9-869F-D217B6DA7778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1"/>
          <p:cNvSpPr/>
          <p:nvPr/>
        </p:nvSpPr>
        <p:spPr>
          <a:xfrm>
            <a:off x="3168000" y="2205000"/>
            <a:ext cx="3744000" cy="12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50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4490640" y="2435400"/>
            <a:ext cx="1098720" cy="7992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en-GB" sz="5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Util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DFCFCDD-D5C9-7E83-238A-CABC9721627C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22"/>
          <p:cNvSpPr/>
          <p:nvPr/>
        </p:nvSpPr>
        <p:spPr>
          <a:xfrm>
            <a:off x="4320000" y="0"/>
            <a:ext cx="1404000" cy="54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3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Util</a:t>
            </a:r>
          </a:p>
          <a:p>
            <a:endParaRPr lang="en-GB" sz="30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7" name="PlaceHolder 1"/>
          <p:cNvGrpSpPr/>
          <p:nvPr/>
        </p:nvGrpSpPr>
        <p:grpSpPr>
          <a:xfrm>
            <a:off x="188640" y="1620000"/>
            <a:ext cx="3771360" cy="2700000"/>
            <a:chOff x="188640" y="1620000"/>
            <a:chExt cx="3771360" cy="2700000"/>
          </a:xfrm>
        </p:grpSpPr>
        <p:sp>
          <p:nvSpPr>
            <p:cNvPr id="18" name="Rechteck 17"/>
            <p:cNvSpPr/>
            <p:nvPr/>
          </p:nvSpPr>
          <p:spPr>
            <a:xfrm>
              <a:off x="188640" y="1620000"/>
              <a:ext cx="3771360" cy="2700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Rechteck: abgerundete Ecken 18"/>
            <p:cNvSpPr/>
            <p:nvPr/>
          </p:nvSpPr>
          <p:spPr>
            <a:xfrm>
              <a:off x="188640" y="1651320"/>
              <a:ext cx="3771360" cy="567720"/>
            </a:xfrm>
            <a:prstGeom prst="roundRect">
              <a:avLst>
                <a:gd name="adj" fmla="val 10000"/>
              </a:avLst>
            </a:prstGeom>
            <a:solidFill>
              <a:schemeClr val="dk2">
                <a:hueOff val="0"/>
                <a:satOff val="0"/>
                <a:lumOff val="0"/>
                <a:alphaOff val="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Rechteck 19"/>
            <p:cNvSpPr/>
            <p:nvPr/>
          </p:nvSpPr>
          <p:spPr>
            <a:xfrm>
              <a:off x="360720" y="1748880"/>
              <a:ext cx="312120" cy="312120"/>
            </a:xfrm>
            <a:prstGeom prst="rect">
              <a:avLst/>
            </a:prstGeom>
            <a:blipFill rotWithShape="0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Rechteck 20"/>
            <p:cNvSpPr/>
            <p:nvPr/>
          </p:nvSpPr>
          <p:spPr>
            <a:xfrm>
              <a:off x="844920" y="1621080"/>
              <a:ext cx="3115080" cy="567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2640" tIns="62640" rIns="62640" bIns="62640" numCol="1" spcCol="1440" anchor="ctr">
              <a:noAutofit/>
            </a:bodyPr>
            <a:lstStyle/>
            <a:p>
              <a:pPr defTabSz="977760">
                <a:lnSpc>
                  <a:spcPct val="90000"/>
                </a:lnSpc>
                <a:spcAft>
                  <a:spcPts val="771"/>
                </a:spcAft>
                <a:tabLst>
                  <a:tab pos="0" algn="l"/>
                </a:tabLst>
              </a:pPr>
              <a:r>
                <a:rPr lang="en-US" sz="2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HasSound</a:t>
              </a:r>
              <a:endParaRPr lang="en-GB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Rechteck: abgerundete Ecken 21"/>
            <p:cNvSpPr/>
            <p:nvPr/>
          </p:nvSpPr>
          <p:spPr>
            <a:xfrm>
              <a:off x="188640" y="2331000"/>
              <a:ext cx="3771360" cy="567720"/>
            </a:xfrm>
            <a:prstGeom prst="roundRect">
              <a:avLst>
                <a:gd name="adj" fmla="val 10000"/>
              </a:avLst>
            </a:prstGeom>
            <a:solidFill>
              <a:schemeClr val="dk2">
                <a:hueOff val="0"/>
                <a:satOff val="0"/>
                <a:lumOff val="0"/>
                <a:alphaOff val="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Rechteck 22"/>
            <p:cNvSpPr/>
            <p:nvPr/>
          </p:nvSpPr>
          <p:spPr>
            <a:xfrm>
              <a:off x="360720" y="2458800"/>
              <a:ext cx="312120" cy="312480"/>
            </a:xfrm>
            <a:prstGeom prst="rect">
              <a:avLst/>
            </a:prstGeom>
            <a:blipFill rotWithShape="0"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Rechteck 23"/>
            <p:cNvSpPr/>
            <p:nvPr/>
          </p:nvSpPr>
          <p:spPr>
            <a:xfrm>
              <a:off x="844920" y="2331000"/>
              <a:ext cx="3115080" cy="567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2640" tIns="62640" rIns="62640" bIns="62640" numCol="1" spcCol="1440" anchor="ctr">
              <a:noAutofit/>
            </a:bodyPr>
            <a:lstStyle/>
            <a:p>
              <a:pPr defTabSz="977760">
                <a:lnSpc>
                  <a:spcPct val="90000"/>
                </a:lnSpc>
                <a:spcAft>
                  <a:spcPts val="771"/>
                </a:spcAft>
                <a:tabLst>
                  <a:tab pos="0" algn="l"/>
                </a:tabLst>
              </a:pPr>
              <a:r>
                <a:rPr lang="en-US" sz="2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SoundSettings</a:t>
              </a:r>
              <a:endParaRPr lang="en-GB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Rechteck: abgerundete Ecken 24"/>
            <p:cNvSpPr/>
            <p:nvPr/>
          </p:nvSpPr>
          <p:spPr>
            <a:xfrm>
              <a:off x="188640" y="3041280"/>
              <a:ext cx="3771360" cy="567720"/>
            </a:xfrm>
            <a:prstGeom prst="roundRect">
              <a:avLst>
                <a:gd name="adj" fmla="val 10000"/>
              </a:avLst>
            </a:prstGeom>
            <a:solidFill>
              <a:schemeClr val="dk2">
                <a:hueOff val="0"/>
                <a:satOff val="0"/>
                <a:lumOff val="0"/>
                <a:alphaOff val="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Rechteck 25"/>
            <p:cNvSpPr/>
            <p:nvPr/>
          </p:nvSpPr>
          <p:spPr>
            <a:xfrm>
              <a:off x="360720" y="3169080"/>
              <a:ext cx="312120" cy="312480"/>
            </a:xfrm>
            <a:prstGeom prst="rect">
              <a:avLst/>
            </a:prstGeom>
            <a:blipFill rotWithShape="0"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Rechteck 26"/>
            <p:cNvSpPr/>
            <p:nvPr/>
          </p:nvSpPr>
          <p:spPr>
            <a:xfrm>
              <a:off x="844920" y="3041280"/>
              <a:ext cx="3115080" cy="567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2640" tIns="62640" rIns="62640" bIns="62640" numCol="1" spcCol="1440" anchor="ctr">
              <a:noAutofit/>
            </a:bodyPr>
            <a:lstStyle/>
            <a:p>
              <a:pPr defTabSz="977760">
                <a:lnSpc>
                  <a:spcPct val="90000"/>
                </a:lnSpc>
                <a:spcAft>
                  <a:spcPts val="771"/>
                </a:spcAft>
                <a:tabLst>
                  <a:tab pos="0" algn="l"/>
                </a:tabLst>
              </a:pPr>
              <a:r>
                <a:rPr lang="en-US" sz="2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Echtzeit-Synchronisation</a:t>
              </a:r>
              <a:endParaRPr lang="en-GB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Rechteck: abgerundete Ecken 27"/>
            <p:cNvSpPr/>
            <p:nvPr/>
          </p:nvSpPr>
          <p:spPr>
            <a:xfrm>
              <a:off x="188640" y="3751200"/>
              <a:ext cx="3771360" cy="567720"/>
            </a:xfrm>
            <a:prstGeom prst="roundRect">
              <a:avLst>
                <a:gd name="adj" fmla="val 10000"/>
              </a:avLst>
            </a:prstGeom>
            <a:solidFill>
              <a:schemeClr val="dk2">
                <a:hueOff val="0"/>
                <a:satOff val="0"/>
                <a:lumOff val="0"/>
                <a:alphaOff val="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Rechteck 28"/>
            <p:cNvSpPr/>
            <p:nvPr/>
          </p:nvSpPr>
          <p:spPr>
            <a:xfrm>
              <a:off x="360720" y="3879360"/>
              <a:ext cx="312120" cy="312120"/>
            </a:xfrm>
            <a:prstGeom prst="rect">
              <a:avLst/>
            </a:prstGeom>
            <a:blipFill rotWithShape="0"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Rechteck 29"/>
            <p:cNvSpPr/>
            <p:nvPr/>
          </p:nvSpPr>
          <p:spPr>
            <a:xfrm>
              <a:off x="844920" y="3751200"/>
              <a:ext cx="3115080" cy="567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62640" tIns="62640" rIns="62640" bIns="62640" numCol="1" spcCol="1440" anchor="ctr">
              <a:noAutofit/>
            </a:bodyPr>
            <a:lstStyle/>
            <a:p>
              <a:pPr defTabSz="977760">
                <a:lnSpc>
                  <a:spcPct val="90000"/>
                </a:lnSpc>
                <a:spcAft>
                  <a:spcPts val="771"/>
                </a:spcAft>
                <a:tabLst>
                  <a:tab pos="0" algn="l"/>
                </a:tabLst>
              </a:pPr>
              <a:r>
                <a:rPr lang="en-US" sz="22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VolumeSlider</a:t>
              </a:r>
              <a:endParaRPr lang="en-GB" sz="2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31" name="Grafik 2"/>
          <p:cNvPicPr/>
          <p:nvPr/>
        </p:nvPicPr>
        <p:blipFill>
          <a:blip r:embed="rId6"/>
          <a:stretch/>
        </p:blipFill>
        <p:spPr>
          <a:xfrm>
            <a:off x="3059640" y="1296000"/>
            <a:ext cx="7200360" cy="342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feld 31"/>
          <p:cNvSpPr txBox="1"/>
          <p:nvPr/>
        </p:nvSpPr>
        <p:spPr>
          <a:xfrm>
            <a:off x="6799320" y="4680000"/>
            <a:ext cx="32806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*KI, uml programm wollte nicht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89967B5-F9F8-286D-9AC7-CE35D5AEC129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36"/>
          <p:cNvSpPr/>
          <p:nvPr/>
        </p:nvSpPr>
        <p:spPr>
          <a:xfrm>
            <a:off x="4320000" y="0"/>
            <a:ext cx="1404000" cy="54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3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Util</a:t>
            </a:r>
          </a:p>
          <a:p>
            <a:endParaRPr lang="en-GB" sz="30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" name="Grafik 33"/>
          <p:cNvPicPr/>
          <p:nvPr/>
        </p:nvPicPr>
        <p:blipFill>
          <a:blip r:embed="rId2"/>
          <a:srcRect r="47434" b="61899"/>
          <a:stretch/>
        </p:blipFill>
        <p:spPr>
          <a:xfrm>
            <a:off x="3240000" y="900360"/>
            <a:ext cx="3390120" cy="21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Shape 137"/>
          <p:cNvSpPr/>
          <p:nvPr/>
        </p:nvSpPr>
        <p:spPr>
          <a:xfrm>
            <a:off x="2160000" y="3420000"/>
            <a:ext cx="5760000" cy="12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- checkClick() muss von einer Clickable-Implementierenden Klasse in der act()-methode ausgeführt werden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- onClick() wird dann in der soeben genannten Klasse gecalled, wenn ein Objekt dieser Klasse angeclickt wird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5F0CF8AC-4709-B742-64F6-ABB25C781C1E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1"/>
          <p:cNvSpPr/>
          <p:nvPr/>
        </p:nvSpPr>
        <p:spPr>
          <a:xfrm>
            <a:off x="3420000" y="18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NL NFM Light"/>
              </a:rPr>
              <a:t> Spieler wählt Map aus</a:t>
            </a:r>
          </a:p>
        </p:txBody>
      </p:sp>
      <p:sp>
        <p:nvSpPr>
          <p:cNvPr id="37" name="Shape 2"/>
          <p:cNvSpPr/>
          <p:nvPr/>
        </p:nvSpPr>
        <p:spPr>
          <a:xfrm>
            <a:off x="2340000" y="900000"/>
            <a:ext cx="540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Map holt sich Enemies vom WaveManager</a:t>
            </a:r>
          </a:p>
        </p:txBody>
      </p:sp>
      <p:sp>
        <p:nvSpPr>
          <p:cNvPr id="38" name="Shape 4"/>
          <p:cNvSpPr/>
          <p:nvPr/>
        </p:nvSpPr>
        <p:spPr>
          <a:xfrm>
            <a:off x="3420000" y="180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Map spawnt die Enemies</a:t>
            </a:r>
          </a:p>
        </p:txBody>
      </p:sp>
      <p:sp>
        <p:nvSpPr>
          <p:cNvPr id="39" name="Shape 5"/>
          <p:cNvSpPr/>
          <p:nvPr/>
        </p:nvSpPr>
        <p:spPr>
          <a:xfrm>
            <a:off x="3420000" y="270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Spieler kauft Towers</a:t>
            </a:r>
          </a:p>
        </p:txBody>
      </p:sp>
      <p:sp>
        <p:nvSpPr>
          <p:cNvPr id="40" name="Shape 8"/>
          <p:cNvSpPr/>
          <p:nvPr/>
        </p:nvSpPr>
        <p:spPr>
          <a:xfrm>
            <a:off x="3420000" y="3780000"/>
            <a:ext cx="342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Tower visiert Enemy an</a:t>
            </a:r>
          </a:p>
        </p:txBody>
      </p:sp>
      <p:sp>
        <p:nvSpPr>
          <p:cNvPr id="41" name="Shape 9"/>
          <p:cNvSpPr/>
          <p:nvPr/>
        </p:nvSpPr>
        <p:spPr>
          <a:xfrm>
            <a:off x="3060000" y="4860000"/>
            <a:ext cx="396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 NF Light"/>
              </a:rPr>
              <a:t> Tower </a:t>
            </a:r>
            <a:r>
              <a:rPr lang="en-GB" sz="1800" b="0" u="none" strike="noStrike" dirty="0" err="1">
                <a:solidFill>
                  <a:srgbClr val="FFFFFF"/>
                </a:solidFill>
                <a:effectLst/>
                <a:uFillTx/>
                <a:latin typeface="JetBrainsMono NF Light"/>
              </a:rPr>
              <a:t>schießt</a:t>
            </a:r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 NF Light"/>
              </a:rPr>
              <a:t> </a:t>
            </a:r>
            <a:r>
              <a:rPr lang="en-GB" dirty="0" err="1">
                <a:solidFill>
                  <a:srgbClr val="FFFFFF"/>
                </a:solidFill>
                <a:latin typeface="JetBrainsMono NF Light"/>
              </a:rPr>
              <a:t>Projektile</a:t>
            </a:r>
            <a:endParaRPr lang="en-GB" sz="1800" b="0" u="none" strike="noStrike" dirty="0">
              <a:solidFill>
                <a:srgbClr val="FFFFFF"/>
              </a:solidFill>
              <a:effectLst/>
              <a:uFillTx/>
              <a:latin typeface="JetBrainsMono NF Light"/>
            </a:endParaRPr>
          </a:p>
        </p:txBody>
      </p:sp>
      <p:sp>
        <p:nvSpPr>
          <p:cNvPr id="42" name="Gerader Verbinder 41"/>
          <p:cNvSpPr/>
          <p:nvPr/>
        </p:nvSpPr>
        <p:spPr>
          <a:xfrm>
            <a:off x="5040000" y="540000"/>
            <a:ext cx="0" cy="36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Gerader Verbinder 42"/>
          <p:cNvSpPr/>
          <p:nvPr/>
        </p:nvSpPr>
        <p:spPr>
          <a:xfrm>
            <a:off x="5040000" y="1260000"/>
            <a:ext cx="0" cy="54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erader Verbinder 43"/>
          <p:cNvSpPr/>
          <p:nvPr/>
        </p:nvSpPr>
        <p:spPr>
          <a:xfrm>
            <a:off x="5040000" y="2160000"/>
            <a:ext cx="0" cy="54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Gerader Verbinder 44"/>
          <p:cNvSpPr/>
          <p:nvPr/>
        </p:nvSpPr>
        <p:spPr>
          <a:xfrm>
            <a:off x="5040000" y="3060000"/>
            <a:ext cx="0" cy="72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Gerader Verbinder 45"/>
          <p:cNvSpPr/>
          <p:nvPr/>
        </p:nvSpPr>
        <p:spPr>
          <a:xfrm>
            <a:off x="5040000" y="4140000"/>
            <a:ext cx="0" cy="72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932E008-121B-EEE2-4ECA-E9C53458EDB2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71"/>
          <p:cNvSpPr/>
          <p:nvPr/>
        </p:nvSpPr>
        <p:spPr>
          <a:xfrm>
            <a:off x="3420000" y="18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1260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NL NFM Light"/>
              </a:rPr>
              <a:t> Spieler wählt Map aus</a:t>
            </a:r>
          </a:p>
        </p:txBody>
      </p:sp>
      <p:sp>
        <p:nvSpPr>
          <p:cNvPr id="48" name="Shape 72"/>
          <p:cNvSpPr/>
          <p:nvPr/>
        </p:nvSpPr>
        <p:spPr>
          <a:xfrm>
            <a:off x="2340000" y="900000"/>
            <a:ext cx="540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Map holt sich Enemies vom WaveManager</a:t>
            </a:r>
          </a:p>
        </p:txBody>
      </p:sp>
      <p:sp>
        <p:nvSpPr>
          <p:cNvPr id="49" name="Shape 74"/>
          <p:cNvSpPr/>
          <p:nvPr/>
        </p:nvSpPr>
        <p:spPr>
          <a:xfrm>
            <a:off x="3420000" y="180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Map spawnt die Enemies</a:t>
            </a:r>
          </a:p>
        </p:txBody>
      </p:sp>
      <p:sp>
        <p:nvSpPr>
          <p:cNvPr id="50" name="Shape 75"/>
          <p:cNvSpPr/>
          <p:nvPr/>
        </p:nvSpPr>
        <p:spPr>
          <a:xfrm>
            <a:off x="3420000" y="270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Spieler kauft Towers</a:t>
            </a:r>
          </a:p>
        </p:txBody>
      </p:sp>
      <p:sp>
        <p:nvSpPr>
          <p:cNvPr id="51" name="Shape 76"/>
          <p:cNvSpPr/>
          <p:nvPr/>
        </p:nvSpPr>
        <p:spPr>
          <a:xfrm>
            <a:off x="3420000" y="3780000"/>
            <a:ext cx="342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Tower visiert Enemy an</a:t>
            </a:r>
          </a:p>
        </p:txBody>
      </p:sp>
      <p:sp>
        <p:nvSpPr>
          <p:cNvPr id="52" name="Shape 77"/>
          <p:cNvSpPr/>
          <p:nvPr/>
        </p:nvSpPr>
        <p:spPr>
          <a:xfrm>
            <a:off x="3060000" y="4860000"/>
            <a:ext cx="396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 NF Light"/>
              </a:rPr>
              <a:t> Tower </a:t>
            </a:r>
            <a:r>
              <a:rPr lang="en-GB" sz="1800" b="0" u="none" strike="noStrike" dirty="0" err="1">
                <a:solidFill>
                  <a:srgbClr val="FFFFFF"/>
                </a:solidFill>
                <a:effectLst/>
                <a:uFillTx/>
                <a:latin typeface="JetBrainsMono NF Light"/>
              </a:rPr>
              <a:t>schießt</a:t>
            </a:r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 NF Light"/>
              </a:rPr>
              <a:t> </a:t>
            </a:r>
            <a:r>
              <a:rPr lang="en-GB" dirty="0" err="1">
                <a:solidFill>
                  <a:srgbClr val="FFFFFF"/>
                </a:solidFill>
                <a:latin typeface="JetBrainsMono NF Light"/>
              </a:rPr>
              <a:t>Projektile</a:t>
            </a:r>
            <a:endParaRPr lang="en-GB" sz="1800" b="0" u="none" strike="noStrike" dirty="0">
              <a:solidFill>
                <a:srgbClr val="FFFFFF"/>
              </a:solidFill>
              <a:effectLst/>
              <a:uFillTx/>
              <a:latin typeface="JetBrainsMono NF Light"/>
            </a:endParaRPr>
          </a:p>
        </p:txBody>
      </p:sp>
      <p:sp>
        <p:nvSpPr>
          <p:cNvPr id="53" name="Gerader Verbinder 52"/>
          <p:cNvSpPr/>
          <p:nvPr/>
        </p:nvSpPr>
        <p:spPr>
          <a:xfrm>
            <a:off x="5040000" y="540000"/>
            <a:ext cx="0" cy="36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erader Verbinder 53"/>
          <p:cNvSpPr/>
          <p:nvPr/>
        </p:nvSpPr>
        <p:spPr>
          <a:xfrm>
            <a:off x="5040000" y="1260000"/>
            <a:ext cx="0" cy="54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erader Verbinder 54"/>
          <p:cNvSpPr/>
          <p:nvPr/>
        </p:nvSpPr>
        <p:spPr>
          <a:xfrm>
            <a:off x="5040000" y="2160000"/>
            <a:ext cx="0" cy="54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erader Verbinder 55"/>
          <p:cNvSpPr/>
          <p:nvPr/>
        </p:nvSpPr>
        <p:spPr>
          <a:xfrm>
            <a:off x="5040000" y="3060000"/>
            <a:ext cx="0" cy="72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erader Verbinder 56"/>
          <p:cNvSpPr/>
          <p:nvPr/>
        </p:nvSpPr>
        <p:spPr>
          <a:xfrm>
            <a:off x="5040000" y="4140000"/>
            <a:ext cx="0" cy="72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78"/>
          <p:cNvSpPr/>
          <p:nvPr/>
        </p:nvSpPr>
        <p:spPr>
          <a:xfrm>
            <a:off x="3420000" y="18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1260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NL NFM Light"/>
              </a:rPr>
              <a:t> Spieler wählt Map aus</a:t>
            </a:r>
          </a:p>
        </p:txBody>
      </p:sp>
      <p:sp>
        <p:nvSpPr>
          <p:cNvPr id="59" name="Shape 79"/>
          <p:cNvSpPr/>
          <p:nvPr/>
        </p:nvSpPr>
        <p:spPr>
          <a:xfrm>
            <a:off x="3420000" y="18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1260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NL NFM Light"/>
              </a:rPr>
              <a:t> Spieler wählt Map aus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5C1F23C9-27EB-CAE8-597E-92DB0C0ADBF0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89"/>
          <p:cNvSpPr/>
          <p:nvPr/>
        </p:nvSpPr>
        <p:spPr>
          <a:xfrm>
            <a:off x="3420000" y="18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NL NFM Light"/>
              </a:rPr>
              <a:t> Spieler </a:t>
            </a:r>
            <a:r>
              <a:rPr lang="en-GB" sz="1800" b="0" u="none" strike="noStrike" dirty="0" err="1">
                <a:solidFill>
                  <a:srgbClr val="FFFFFF"/>
                </a:solidFill>
                <a:effectLst/>
                <a:uFillTx/>
                <a:latin typeface="JetBrainsMonoNL NFM Light"/>
              </a:rPr>
              <a:t>wählt</a:t>
            </a:r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NL NFM Light"/>
              </a:rPr>
              <a:t> Map </a:t>
            </a:r>
            <a:r>
              <a:rPr lang="en-GB" sz="1800" b="0" u="none" strike="noStrike" dirty="0" err="1">
                <a:solidFill>
                  <a:srgbClr val="FFFFFF"/>
                </a:solidFill>
                <a:effectLst/>
                <a:uFillTx/>
                <a:latin typeface="JetBrainsMonoNL NFM Light"/>
              </a:rPr>
              <a:t>aus</a:t>
            </a:r>
            <a:endParaRPr lang="en-GB" sz="1800" b="0" u="none" strike="noStrike" dirty="0">
              <a:solidFill>
                <a:srgbClr val="FFFFFF"/>
              </a:solidFill>
              <a:effectLst/>
              <a:uFillTx/>
              <a:latin typeface="JetBrainsMonoNL NFM Light"/>
            </a:endParaRPr>
          </a:p>
        </p:txBody>
      </p:sp>
      <p:pic>
        <p:nvPicPr>
          <p:cNvPr id="61" name="Grafik 60"/>
          <p:cNvPicPr/>
          <p:nvPr/>
        </p:nvPicPr>
        <p:blipFill>
          <a:blip r:embed="rId2"/>
          <a:stretch/>
        </p:blipFill>
        <p:spPr>
          <a:xfrm>
            <a:off x="0" y="1427400"/>
            <a:ext cx="4947840" cy="271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Grafik 61"/>
          <p:cNvPicPr/>
          <p:nvPr/>
        </p:nvPicPr>
        <p:blipFill>
          <a:blip r:embed="rId3"/>
          <a:stretch/>
        </p:blipFill>
        <p:spPr>
          <a:xfrm>
            <a:off x="5040000" y="1422360"/>
            <a:ext cx="4954320" cy="271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AC5C567-DCB4-C3A4-199B-9665472C3FE4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90"/>
          <p:cNvSpPr/>
          <p:nvPr/>
        </p:nvSpPr>
        <p:spPr>
          <a:xfrm>
            <a:off x="3420312" y="16317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NL NFM Light"/>
              </a:rPr>
              <a:t> Spieler </a:t>
            </a:r>
            <a:r>
              <a:rPr lang="en-GB" sz="1800" b="0" u="none" strike="noStrike" dirty="0" err="1">
                <a:solidFill>
                  <a:srgbClr val="FFFFFF"/>
                </a:solidFill>
                <a:effectLst/>
                <a:uFillTx/>
                <a:latin typeface="JetBrainsMonoNL NFM Light"/>
              </a:rPr>
              <a:t>wählt</a:t>
            </a:r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NL NFM Light"/>
              </a:rPr>
              <a:t> Map </a:t>
            </a:r>
            <a:r>
              <a:rPr lang="en-GB" sz="1800" b="0" u="none" strike="noStrike" dirty="0" err="1">
                <a:solidFill>
                  <a:srgbClr val="FFFFFF"/>
                </a:solidFill>
                <a:effectLst/>
                <a:uFillTx/>
                <a:latin typeface="JetBrainsMonoNL NFM Light"/>
              </a:rPr>
              <a:t>aus</a:t>
            </a:r>
            <a:endParaRPr lang="en-GB" sz="1800" b="0" u="none" strike="noStrike" dirty="0">
              <a:solidFill>
                <a:srgbClr val="FFFFFF"/>
              </a:solidFill>
              <a:effectLst/>
              <a:uFillTx/>
              <a:latin typeface="JetBrainsMonoNL NFM Light"/>
            </a:endParaRPr>
          </a:p>
        </p:txBody>
      </p:sp>
      <p:pic>
        <p:nvPicPr>
          <p:cNvPr id="64" name="Grafik 63"/>
          <p:cNvPicPr/>
          <p:nvPr/>
        </p:nvPicPr>
        <p:blipFill>
          <a:blip r:embed="rId2"/>
          <a:stretch/>
        </p:blipFill>
        <p:spPr>
          <a:xfrm>
            <a:off x="1502280" y="720000"/>
            <a:ext cx="6957720" cy="382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Shape 112"/>
          <p:cNvSpPr/>
          <p:nvPr/>
        </p:nvSpPr>
        <p:spPr>
          <a:xfrm>
            <a:off x="1080000" y="4680000"/>
            <a:ext cx="5400000" cy="72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Difficulty: enumeration →</a:t>
            </a:r>
            <a:br>
              <a:rPr sz="1800"/>
            </a:br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EASY (40), MEDIUM (60), HARD (80)</a:t>
            </a:r>
          </a:p>
        </p:txBody>
      </p:sp>
      <p:grpSp>
        <p:nvGrpSpPr>
          <p:cNvPr id="66" name="Gruppieren 65"/>
          <p:cNvGrpSpPr/>
          <p:nvPr/>
        </p:nvGrpSpPr>
        <p:grpSpPr>
          <a:xfrm>
            <a:off x="7020000" y="4680000"/>
            <a:ext cx="1980000" cy="720000"/>
            <a:chOff x="7020000" y="4680000"/>
            <a:chExt cx="1980000" cy="720000"/>
          </a:xfrm>
        </p:grpSpPr>
        <p:sp>
          <p:nvSpPr>
            <p:cNvPr id="67" name="Shape 113"/>
            <p:cNvSpPr/>
            <p:nvPr/>
          </p:nvSpPr>
          <p:spPr>
            <a:xfrm>
              <a:off x="7020000" y="4680000"/>
              <a:ext cx="1980000" cy="720000"/>
            </a:xfrm>
            <a:prstGeom prst="roundRect">
              <a:avLst>
                <a:gd name="adj" fmla="val 1778"/>
              </a:avLst>
            </a:prstGeom>
            <a:solidFill>
              <a:srgbClr val="12162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8" name="Grafik 67"/>
            <p:cNvPicPr/>
            <p:nvPr/>
          </p:nvPicPr>
          <p:blipFill>
            <a:blip r:embed="rId3"/>
            <a:stretch/>
          </p:blipFill>
          <p:spPr>
            <a:xfrm>
              <a:off x="7200000" y="4860000"/>
              <a:ext cx="1723680" cy="3520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4A43730-F4BA-2DFE-C1DA-AD59177EC7F5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114"/>
          <p:cNvSpPr/>
          <p:nvPr/>
        </p:nvSpPr>
        <p:spPr>
          <a:xfrm>
            <a:off x="3867022" y="129512"/>
            <a:ext cx="2346579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NL NFM Light"/>
              </a:rPr>
              <a:t> Spieler wählt Map aus</a:t>
            </a:r>
          </a:p>
        </p:txBody>
      </p:sp>
      <p:pic>
        <p:nvPicPr>
          <p:cNvPr id="70" name="Grafik 69"/>
          <p:cNvPicPr/>
          <p:nvPr/>
        </p:nvPicPr>
        <p:blipFill>
          <a:blip r:embed="rId2"/>
          <a:srcRect b="41083"/>
          <a:stretch/>
        </p:blipFill>
        <p:spPr>
          <a:xfrm>
            <a:off x="1675211" y="1351471"/>
            <a:ext cx="6730200" cy="258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AA040BD-6090-FF9C-2BB5-F5E2222904F0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81"/>
          <p:cNvSpPr/>
          <p:nvPr/>
        </p:nvSpPr>
        <p:spPr>
          <a:xfrm>
            <a:off x="3420000" y="18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1260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NL NFM Light"/>
              </a:rPr>
              <a:t> Spieler wählt Map aus</a:t>
            </a:r>
          </a:p>
        </p:txBody>
      </p:sp>
      <p:sp>
        <p:nvSpPr>
          <p:cNvPr id="72" name="Shape 82"/>
          <p:cNvSpPr/>
          <p:nvPr/>
        </p:nvSpPr>
        <p:spPr>
          <a:xfrm>
            <a:off x="2340000" y="900000"/>
            <a:ext cx="540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Map holt sich Enemies vom WaveManager</a:t>
            </a:r>
          </a:p>
        </p:txBody>
      </p:sp>
      <p:sp>
        <p:nvSpPr>
          <p:cNvPr id="73" name="Shape 83"/>
          <p:cNvSpPr/>
          <p:nvPr/>
        </p:nvSpPr>
        <p:spPr>
          <a:xfrm>
            <a:off x="3420000" y="180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Map spawnt die Enemies</a:t>
            </a:r>
          </a:p>
        </p:txBody>
      </p:sp>
      <p:sp>
        <p:nvSpPr>
          <p:cNvPr id="74" name="Shape 84"/>
          <p:cNvSpPr/>
          <p:nvPr/>
        </p:nvSpPr>
        <p:spPr>
          <a:xfrm>
            <a:off x="3420000" y="270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Spieler kauft Towers</a:t>
            </a:r>
          </a:p>
        </p:txBody>
      </p:sp>
      <p:sp>
        <p:nvSpPr>
          <p:cNvPr id="75" name="Shape 85"/>
          <p:cNvSpPr/>
          <p:nvPr/>
        </p:nvSpPr>
        <p:spPr>
          <a:xfrm>
            <a:off x="3420000" y="3780000"/>
            <a:ext cx="342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Tower visiert Enemy an</a:t>
            </a:r>
          </a:p>
        </p:txBody>
      </p:sp>
      <p:sp>
        <p:nvSpPr>
          <p:cNvPr id="76" name="Shape 86"/>
          <p:cNvSpPr/>
          <p:nvPr/>
        </p:nvSpPr>
        <p:spPr>
          <a:xfrm>
            <a:off x="3060000" y="4860000"/>
            <a:ext cx="396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 NF Light"/>
              </a:rPr>
              <a:t> Tower </a:t>
            </a:r>
            <a:r>
              <a:rPr lang="en-GB" sz="1800" b="0" u="none" strike="noStrike" dirty="0" err="1">
                <a:solidFill>
                  <a:srgbClr val="FFFFFF"/>
                </a:solidFill>
                <a:effectLst/>
                <a:uFillTx/>
                <a:latin typeface="JetBrainsMono NF Light"/>
              </a:rPr>
              <a:t>schießt</a:t>
            </a:r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 NF Light"/>
              </a:rPr>
              <a:t> </a:t>
            </a:r>
            <a:r>
              <a:rPr lang="en-GB" dirty="0" err="1">
                <a:solidFill>
                  <a:srgbClr val="FFFFFF"/>
                </a:solidFill>
                <a:latin typeface="JetBrainsMono NF Light"/>
              </a:rPr>
              <a:t>Projektile</a:t>
            </a:r>
            <a:endParaRPr lang="en-GB" sz="1800" b="0" u="none" strike="noStrike" dirty="0">
              <a:solidFill>
                <a:srgbClr val="FFFFFF"/>
              </a:solidFill>
              <a:effectLst/>
              <a:uFillTx/>
              <a:latin typeface="JetBrainsMono NF Light"/>
            </a:endParaRPr>
          </a:p>
        </p:txBody>
      </p:sp>
      <p:sp>
        <p:nvSpPr>
          <p:cNvPr id="77" name="Gerader Verbinder 76"/>
          <p:cNvSpPr/>
          <p:nvPr/>
        </p:nvSpPr>
        <p:spPr>
          <a:xfrm>
            <a:off x="5040000" y="540000"/>
            <a:ext cx="0" cy="36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erader Verbinder 77"/>
          <p:cNvSpPr/>
          <p:nvPr/>
        </p:nvSpPr>
        <p:spPr>
          <a:xfrm>
            <a:off x="5040000" y="1260000"/>
            <a:ext cx="0" cy="54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erader Verbinder 78"/>
          <p:cNvSpPr/>
          <p:nvPr/>
        </p:nvSpPr>
        <p:spPr>
          <a:xfrm>
            <a:off x="5040000" y="2160000"/>
            <a:ext cx="0" cy="54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erader Verbinder 79"/>
          <p:cNvSpPr/>
          <p:nvPr/>
        </p:nvSpPr>
        <p:spPr>
          <a:xfrm>
            <a:off x="5040000" y="3060000"/>
            <a:ext cx="0" cy="72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erader Verbinder 80"/>
          <p:cNvSpPr/>
          <p:nvPr/>
        </p:nvSpPr>
        <p:spPr>
          <a:xfrm>
            <a:off x="5040000" y="4140000"/>
            <a:ext cx="0" cy="72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87"/>
          <p:cNvSpPr/>
          <p:nvPr/>
        </p:nvSpPr>
        <p:spPr>
          <a:xfrm>
            <a:off x="3420000" y="18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1260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NL NFM Light"/>
              </a:rPr>
              <a:t> Spieler wählt Map aus</a:t>
            </a:r>
          </a:p>
        </p:txBody>
      </p:sp>
      <p:sp>
        <p:nvSpPr>
          <p:cNvPr id="83" name="Shape 88"/>
          <p:cNvSpPr/>
          <p:nvPr/>
        </p:nvSpPr>
        <p:spPr>
          <a:xfrm>
            <a:off x="3420000" y="18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1260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NL NFM Light"/>
              </a:rPr>
              <a:t> Spieler wählt Map aus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E8FFAD5-12B2-ABC7-ABAB-1FC2BA30E01A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25"/>
          <p:cNvSpPr/>
          <p:nvPr/>
        </p:nvSpPr>
        <p:spPr>
          <a:xfrm>
            <a:off x="3420000" y="18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NL NFM Light"/>
              </a:rPr>
              <a:t> Spieler wählt Map aus</a:t>
            </a:r>
          </a:p>
        </p:txBody>
      </p:sp>
      <p:sp>
        <p:nvSpPr>
          <p:cNvPr id="85" name="Shape 26"/>
          <p:cNvSpPr/>
          <p:nvPr/>
        </p:nvSpPr>
        <p:spPr>
          <a:xfrm>
            <a:off x="2340000" y="900000"/>
            <a:ext cx="540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1260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Map holt sich Enemies vom WaveManager</a:t>
            </a:r>
          </a:p>
        </p:txBody>
      </p:sp>
      <p:sp>
        <p:nvSpPr>
          <p:cNvPr id="86" name="Shape 27"/>
          <p:cNvSpPr/>
          <p:nvPr/>
        </p:nvSpPr>
        <p:spPr>
          <a:xfrm>
            <a:off x="3420000" y="180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Map spawnt die Enemies</a:t>
            </a:r>
          </a:p>
        </p:txBody>
      </p:sp>
      <p:sp>
        <p:nvSpPr>
          <p:cNvPr id="87" name="Shape 28"/>
          <p:cNvSpPr/>
          <p:nvPr/>
        </p:nvSpPr>
        <p:spPr>
          <a:xfrm>
            <a:off x="3420000" y="270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Spieler kauft Towers</a:t>
            </a:r>
          </a:p>
        </p:txBody>
      </p:sp>
      <p:sp>
        <p:nvSpPr>
          <p:cNvPr id="88" name="Shape 29"/>
          <p:cNvSpPr/>
          <p:nvPr/>
        </p:nvSpPr>
        <p:spPr>
          <a:xfrm>
            <a:off x="3420000" y="3780000"/>
            <a:ext cx="342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Tower visiert Enemy an</a:t>
            </a:r>
          </a:p>
        </p:txBody>
      </p:sp>
      <p:sp>
        <p:nvSpPr>
          <p:cNvPr id="89" name="Shape 30"/>
          <p:cNvSpPr/>
          <p:nvPr/>
        </p:nvSpPr>
        <p:spPr>
          <a:xfrm>
            <a:off x="3060000" y="4860000"/>
            <a:ext cx="396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 NF Light"/>
              </a:rPr>
              <a:t> Tower </a:t>
            </a:r>
            <a:r>
              <a:rPr lang="en-GB" sz="1800" b="0" u="none" strike="noStrike" dirty="0" err="1">
                <a:solidFill>
                  <a:srgbClr val="FFFFFF"/>
                </a:solidFill>
                <a:effectLst/>
                <a:uFillTx/>
                <a:latin typeface="JetBrainsMono NF Light"/>
              </a:rPr>
              <a:t>schießt</a:t>
            </a:r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 NF Light"/>
              </a:rPr>
              <a:t> </a:t>
            </a:r>
            <a:r>
              <a:rPr lang="en-GB" dirty="0" err="1">
                <a:solidFill>
                  <a:srgbClr val="FFFFFF"/>
                </a:solidFill>
                <a:latin typeface="JetBrainsMono NF Light"/>
              </a:rPr>
              <a:t>Projektile</a:t>
            </a:r>
            <a:endParaRPr lang="en-GB" sz="1800" b="0" u="none" strike="noStrike" dirty="0">
              <a:solidFill>
                <a:srgbClr val="FFFFFF"/>
              </a:solidFill>
              <a:effectLst/>
              <a:uFillTx/>
              <a:latin typeface="JetBrainsMono NF Light"/>
            </a:endParaRPr>
          </a:p>
        </p:txBody>
      </p:sp>
      <p:sp>
        <p:nvSpPr>
          <p:cNvPr id="90" name="Gerader Verbinder 89"/>
          <p:cNvSpPr/>
          <p:nvPr/>
        </p:nvSpPr>
        <p:spPr>
          <a:xfrm>
            <a:off x="5040000" y="540000"/>
            <a:ext cx="0" cy="36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erader Verbinder 90"/>
          <p:cNvSpPr/>
          <p:nvPr/>
        </p:nvSpPr>
        <p:spPr>
          <a:xfrm>
            <a:off x="5040000" y="1260000"/>
            <a:ext cx="0" cy="54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erader Verbinder 91"/>
          <p:cNvSpPr/>
          <p:nvPr/>
        </p:nvSpPr>
        <p:spPr>
          <a:xfrm>
            <a:off x="5040000" y="2160000"/>
            <a:ext cx="0" cy="54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erader Verbinder 92"/>
          <p:cNvSpPr/>
          <p:nvPr/>
        </p:nvSpPr>
        <p:spPr>
          <a:xfrm>
            <a:off x="5040000" y="3060000"/>
            <a:ext cx="0" cy="72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erader Verbinder 93"/>
          <p:cNvSpPr/>
          <p:nvPr/>
        </p:nvSpPr>
        <p:spPr>
          <a:xfrm>
            <a:off x="5040000" y="4140000"/>
            <a:ext cx="0" cy="72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80"/>
          <p:cNvSpPr/>
          <p:nvPr/>
        </p:nvSpPr>
        <p:spPr>
          <a:xfrm>
            <a:off x="3420000" y="18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NL NFM Light"/>
              </a:rPr>
              <a:t> Spieler wählt Map aus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37D027E-BFCF-9E21-BA4D-940BE3872930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7"/>
          <p:cNvSpPr/>
          <p:nvPr/>
        </p:nvSpPr>
        <p:spPr>
          <a:xfrm>
            <a:off x="2340000" y="180000"/>
            <a:ext cx="540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Map holt sich Enemies vom WaveManager</a:t>
            </a:r>
          </a:p>
        </p:txBody>
      </p:sp>
      <p:sp>
        <p:nvSpPr>
          <p:cNvPr id="97" name="Shape 6"/>
          <p:cNvSpPr/>
          <p:nvPr/>
        </p:nvSpPr>
        <p:spPr>
          <a:xfrm>
            <a:off x="4248000" y="720000"/>
            <a:ext cx="5760000" cy="234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public void </a:t>
            </a:r>
            <a:r>
              <a:rPr lang="en-GB" sz="105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spawnWave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wave, 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spawnDelay) {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if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105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enemiesToSpawn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.isEmpty() &amp;&amp; </a:t>
            </a:r>
            <a:r>
              <a:rPr lang="en-GB" sz="105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aliveEnemies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.isEmpty()) 		      { </a:t>
            </a:r>
            <a:r>
              <a:rPr lang="en-GB" sz="1050" b="0" u="none" strike="noStrike">
                <a:solidFill>
                  <a:srgbClr val="7A7E85"/>
                </a:solidFill>
                <a:effectLst/>
                <a:uFillTx/>
                <a:latin typeface="JetBrains Mono"/>
                <a:ea typeface="JetBrains Mono"/>
              </a:rPr>
              <a:t>//spawns new wave</a:t>
            </a:r>
            <a:br>
              <a:rPr sz="1050"/>
            </a:br>
            <a:r>
              <a:rPr lang="en-GB" sz="1050" b="0" u="none" strike="noStrike">
                <a:solidFill>
                  <a:srgbClr val="7A7E85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setWave(wave + </a:t>
            </a:r>
            <a:r>
              <a:rPr lang="en-GB" sz="10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lang="en-GB" sz="105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enemiesToSpawn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lang="en-GB" sz="105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waveManager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.generateWave(wave);</a:t>
            </a:r>
            <a:br>
              <a:rPr sz="1050"/>
            </a:b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getPlayer().setCoins(getPlayer().getCoins() + </a:t>
            </a:r>
            <a:r>
              <a:rPr lang="en-GB" sz="105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waveEndMoney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050"/>
            </a:b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lang="en-GB" sz="105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waveEndMoney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lang="en-GB" sz="10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lang="en-GB" sz="105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receivedWaveMoney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lang="en-GB" sz="10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lang="en-GB" sz="1050" b="0" u="none" strike="noStrike">
                <a:solidFill>
                  <a:srgbClr val="7A7E85"/>
                </a:solidFill>
                <a:effectLst/>
                <a:uFillTx/>
                <a:latin typeface="JetBrains Mono"/>
                <a:ea typeface="JetBrains Mono"/>
              </a:rPr>
              <a:t>//Nerf in later rounds</a:t>
            </a:r>
            <a:br>
              <a:rPr sz="1050"/>
            </a:br>
            <a:r>
              <a:rPr lang="en-GB" sz="1050" b="0" u="none" strike="noStrike">
                <a:solidFill>
                  <a:srgbClr val="7A7E85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(Enemy enemy : </a:t>
            </a:r>
            <a:r>
              <a:rPr lang="en-GB" sz="105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enemiesToSpawn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    </a:t>
            </a:r>
            <a:r>
              <a:rPr lang="en-GB" sz="105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waveEndMoney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+= (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 enemy.getLives() / </a:t>
            </a:r>
            <a:r>
              <a:rPr lang="en-GB" sz="10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}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" name="Grafik 97"/>
          <p:cNvPicPr/>
          <p:nvPr/>
        </p:nvPicPr>
        <p:blipFill>
          <a:blip r:embed="rId2"/>
          <a:srcRect r="41318"/>
          <a:stretch/>
        </p:blipFill>
        <p:spPr>
          <a:xfrm>
            <a:off x="48960" y="900000"/>
            <a:ext cx="4091040" cy="336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Shape 10"/>
          <p:cNvSpPr/>
          <p:nvPr/>
        </p:nvSpPr>
        <p:spPr>
          <a:xfrm>
            <a:off x="4269960" y="3240000"/>
            <a:ext cx="5760000" cy="234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public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List&lt;Enemy&gt; </a:t>
            </a:r>
            <a:r>
              <a:rPr lang="en-GB" sz="105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generateWave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level) {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List&lt;Enemy&gt; enemies = 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new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ArrayList&lt;&gt;();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List&lt;Supplier&lt;Enemy&gt;&gt; mappedEnemies = </a:t>
            </a:r>
            <a:r>
              <a:rPr lang="en-GB" sz="1050" b="0" i="1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ENEMY_MAP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.get(mapCheck(level));</a:t>
            </a:r>
            <a:br>
              <a:rPr sz="1050"/>
            </a:br>
            <a:br>
              <a:rPr sz="1050"/>
            </a:b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i = </a:t>
            </a:r>
            <a:r>
              <a:rPr lang="en-GB" sz="10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 i &lt; </a:t>
            </a:r>
            <a:r>
              <a:rPr lang="en-GB" sz="10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 i++) {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random = Greenfoot.</a:t>
            </a:r>
            <a:r>
              <a:rPr lang="en-GB" sz="105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getRandomNumber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(level + </a:t>
            </a:r>
            <a:r>
              <a:rPr lang="en-GB" sz="10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amount = random + </a:t>
            </a:r>
            <a:r>
              <a:rPr lang="en-GB" sz="10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e = amount; e &gt; </a:t>
            </a:r>
            <a:r>
              <a:rPr lang="en-GB" sz="10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 e--) {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zahl = Greenfoot.</a:t>
            </a:r>
            <a:r>
              <a:rPr lang="en-GB" sz="105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getRandomNumber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(mappedEnemies.size());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Enemy enemy = mappedEnemies.get(zahl).get();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enemies.add(enemy);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}}</a:t>
            </a:r>
            <a:br>
              <a:rPr sz="1050"/>
            </a:b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enemies;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feld 99"/>
          <p:cNvSpPr txBox="1"/>
          <p:nvPr/>
        </p:nvSpPr>
        <p:spPr>
          <a:xfrm>
            <a:off x="4320000" y="540000"/>
            <a:ext cx="103860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en-GB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GameMap.java</a:t>
            </a:r>
          </a:p>
        </p:txBody>
      </p:sp>
      <p:sp>
        <p:nvSpPr>
          <p:cNvPr id="101" name="Textfeld 100"/>
          <p:cNvSpPr txBox="1"/>
          <p:nvPr/>
        </p:nvSpPr>
        <p:spPr>
          <a:xfrm>
            <a:off x="4320000" y="3038760"/>
            <a:ext cx="1260000" cy="37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GB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WaveManager.java</a:t>
            </a:r>
          </a:p>
        </p:txBody>
      </p:sp>
      <p:sp>
        <p:nvSpPr>
          <p:cNvPr id="102" name="Shape 32"/>
          <p:cNvSpPr/>
          <p:nvPr/>
        </p:nvSpPr>
        <p:spPr>
          <a:xfrm>
            <a:off x="900000" y="4500000"/>
            <a:ext cx="1980000" cy="72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3" name="Grafik 102"/>
          <p:cNvPicPr/>
          <p:nvPr/>
        </p:nvPicPr>
        <p:blipFill>
          <a:blip r:embed="rId3"/>
          <a:stretch/>
        </p:blipFill>
        <p:spPr>
          <a:xfrm>
            <a:off x="1044000" y="4680000"/>
            <a:ext cx="1723680" cy="35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324FAD4-DB97-A59C-550B-F144B264C277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98"/>
          <p:cNvSpPr/>
          <p:nvPr/>
        </p:nvSpPr>
        <p:spPr>
          <a:xfrm>
            <a:off x="180000" y="1698120"/>
            <a:ext cx="5760000" cy="208188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- Eine Map hat einen Schlüssel (k1, k2, …) und einen Wert. In   diesem Fall ist der Wert eine Liste mit Gegnern, die bis zu       diesem Level verfügbar sind.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- Beispiel: Das Level ist 13.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- Wir können also alle Gegner aus k3 verwenden, weil es der    nächsthöhste Wert ist.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99"/>
          <p:cNvSpPr/>
          <p:nvPr/>
        </p:nvSpPr>
        <p:spPr>
          <a:xfrm>
            <a:off x="4680312" y="107072"/>
            <a:ext cx="72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NL NFM Light"/>
              </a:rPr>
              <a:t>Map</a:t>
            </a:r>
          </a:p>
        </p:txBody>
      </p:sp>
      <p:pic>
        <p:nvPicPr>
          <p:cNvPr id="106" name="Inhaltsplatzhalter 1"/>
          <p:cNvPicPr/>
          <p:nvPr/>
        </p:nvPicPr>
        <p:blipFill>
          <a:blip r:embed="rId2"/>
          <a:srcRect l="325" r="42970"/>
          <a:stretch/>
        </p:blipFill>
        <p:spPr>
          <a:xfrm>
            <a:off x="6705000" y="-360"/>
            <a:ext cx="3375000" cy="567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54A3639C-B76C-7AAC-6A80-436AEEC29BC4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94"/>
          <p:cNvSpPr/>
          <p:nvPr/>
        </p:nvSpPr>
        <p:spPr>
          <a:xfrm>
            <a:off x="2340000" y="180000"/>
            <a:ext cx="540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Map holt sich Enemies vom WaveManager</a:t>
            </a:r>
          </a:p>
        </p:txBody>
      </p:sp>
      <p:sp>
        <p:nvSpPr>
          <p:cNvPr id="108" name="Shape 95"/>
          <p:cNvSpPr/>
          <p:nvPr/>
        </p:nvSpPr>
        <p:spPr>
          <a:xfrm>
            <a:off x="4248000" y="720000"/>
            <a:ext cx="5760000" cy="234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public void </a:t>
            </a:r>
            <a:r>
              <a:rPr lang="en-GB" sz="105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spawnWave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wave, 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spawnDelay) {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if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105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enemiesToSpawn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.isEmpty() &amp;&amp; </a:t>
            </a:r>
            <a:r>
              <a:rPr lang="en-GB" sz="105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aliveEnemies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.isEmpty()) 		      { </a:t>
            </a:r>
            <a:r>
              <a:rPr lang="en-GB" sz="1050" b="0" u="none" strike="noStrike">
                <a:solidFill>
                  <a:srgbClr val="7A7E85"/>
                </a:solidFill>
                <a:effectLst/>
                <a:uFillTx/>
                <a:latin typeface="JetBrains Mono"/>
                <a:ea typeface="JetBrains Mono"/>
              </a:rPr>
              <a:t>//spawns new wave</a:t>
            </a:r>
            <a:br>
              <a:rPr sz="1050"/>
            </a:br>
            <a:r>
              <a:rPr lang="en-GB" sz="1050" b="0" u="none" strike="noStrike">
                <a:solidFill>
                  <a:srgbClr val="7A7E85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setWave(wave + </a:t>
            </a:r>
            <a:r>
              <a:rPr lang="en-GB" sz="10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lang="en-GB" sz="105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enemiesToSpawn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lang="en-GB" sz="105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waveManager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.generateWave(wave);</a:t>
            </a:r>
            <a:br>
              <a:rPr sz="1050"/>
            </a:b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getPlayer().setCoins(getPlayer().getCoins() + </a:t>
            </a:r>
            <a:r>
              <a:rPr lang="en-GB" sz="105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waveEndMoney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050"/>
            </a:b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lang="en-GB" sz="105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waveEndMoney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lang="en-GB" sz="10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lang="en-GB" sz="105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receivedWaveMoney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lang="en-GB" sz="10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lang="en-GB" sz="1050" b="0" u="none" strike="noStrike">
                <a:solidFill>
                  <a:srgbClr val="7A7E85"/>
                </a:solidFill>
                <a:effectLst/>
                <a:uFillTx/>
                <a:latin typeface="JetBrains Mono"/>
                <a:ea typeface="JetBrains Mono"/>
              </a:rPr>
              <a:t>//Nerf in later rounds</a:t>
            </a:r>
            <a:br>
              <a:rPr sz="1050"/>
            </a:br>
            <a:r>
              <a:rPr lang="en-GB" sz="1050" b="0" u="none" strike="noStrike">
                <a:solidFill>
                  <a:srgbClr val="7A7E85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(Enemy enemy : </a:t>
            </a:r>
            <a:r>
              <a:rPr lang="en-GB" sz="105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enemiesToSpawn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    </a:t>
            </a:r>
            <a:r>
              <a:rPr lang="en-GB" sz="105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waveEndMoney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+= (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 enemy.getLives() / </a:t>
            </a:r>
            <a:r>
              <a:rPr lang="en-GB" sz="10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}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9" name="Grafik 108"/>
          <p:cNvPicPr/>
          <p:nvPr/>
        </p:nvPicPr>
        <p:blipFill>
          <a:blip r:embed="rId2"/>
          <a:srcRect r="41318"/>
          <a:stretch/>
        </p:blipFill>
        <p:spPr>
          <a:xfrm>
            <a:off x="48960" y="900000"/>
            <a:ext cx="4091040" cy="336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Shape 96"/>
          <p:cNvSpPr/>
          <p:nvPr/>
        </p:nvSpPr>
        <p:spPr>
          <a:xfrm>
            <a:off x="4269960" y="3240000"/>
            <a:ext cx="5760000" cy="234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public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List&lt;Enemy&gt; </a:t>
            </a:r>
            <a:r>
              <a:rPr lang="en-GB" sz="105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generateWave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level) {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List&lt;Enemy&gt; enemies = 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new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ArrayList&lt;&gt;();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List&lt;Supplier&lt;Enemy&gt;&gt; mappedEnemies = </a:t>
            </a:r>
            <a:r>
              <a:rPr lang="en-GB" sz="1050" b="0" i="1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ENEMY_MAP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.get(mapCheck(level));</a:t>
            </a:r>
            <a:br>
              <a:rPr sz="1050"/>
            </a:br>
            <a:br>
              <a:rPr sz="1050"/>
            </a:b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i = </a:t>
            </a:r>
            <a:r>
              <a:rPr lang="en-GB" sz="10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 i &lt; </a:t>
            </a:r>
            <a:r>
              <a:rPr lang="en-GB" sz="10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 i++) {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random = Greenfoot.</a:t>
            </a:r>
            <a:r>
              <a:rPr lang="en-GB" sz="105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getRandomNumber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(level + </a:t>
            </a:r>
            <a:r>
              <a:rPr lang="en-GB" sz="10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amount = random + </a:t>
            </a:r>
            <a:r>
              <a:rPr lang="en-GB" sz="10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e = amount; e &gt; </a:t>
            </a:r>
            <a:r>
              <a:rPr lang="en-GB" sz="10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 e--) {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</a:t>
            </a: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zahl = Greenfoot.</a:t>
            </a:r>
            <a:r>
              <a:rPr lang="en-GB" sz="105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getRandomNumber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(mappedEnemies.size());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Enemy enemy = mappedEnemies.get(zahl).get();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enemies.add(enemy);</a:t>
            </a:r>
            <a:br>
              <a:rPr sz="1050"/>
            </a:b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}}</a:t>
            </a:r>
            <a:br>
              <a:rPr sz="1050"/>
            </a:br>
            <a:r>
              <a:rPr lang="en-GB" sz="10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enemies;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lang="en-GB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feld 110"/>
          <p:cNvSpPr txBox="1"/>
          <p:nvPr/>
        </p:nvSpPr>
        <p:spPr>
          <a:xfrm>
            <a:off x="4320000" y="540000"/>
            <a:ext cx="103860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en-GB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GameMap.java</a:t>
            </a:r>
          </a:p>
        </p:txBody>
      </p:sp>
      <p:sp>
        <p:nvSpPr>
          <p:cNvPr id="112" name="Textfeld 111"/>
          <p:cNvSpPr txBox="1"/>
          <p:nvPr/>
        </p:nvSpPr>
        <p:spPr>
          <a:xfrm>
            <a:off x="4320000" y="3038760"/>
            <a:ext cx="1260000" cy="37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GB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WaveManager.java</a:t>
            </a:r>
          </a:p>
        </p:txBody>
      </p:sp>
      <p:sp>
        <p:nvSpPr>
          <p:cNvPr id="113" name="Shape 97"/>
          <p:cNvSpPr/>
          <p:nvPr/>
        </p:nvSpPr>
        <p:spPr>
          <a:xfrm>
            <a:off x="900000" y="4500000"/>
            <a:ext cx="1980000" cy="72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" name="Grafik 113"/>
          <p:cNvPicPr/>
          <p:nvPr/>
        </p:nvPicPr>
        <p:blipFill>
          <a:blip r:embed="rId3"/>
          <a:stretch/>
        </p:blipFill>
        <p:spPr>
          <a:xfrm>
            <a:off x="1044000" y="4680000"/>
            <a:ext cx="1723680" cy="35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9325256-88BC-B2A3-95FC-5357BC63BC48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23"/>
          <p:cNvSpPr/>
          <p:nvPr/>
        </p:nvSpPr>
        <p:spPr>
          <a:xfrm>
            <a:off x="4320000" y="0"/>
            <a:ext cx="1404000" cy="72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20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  </a:t>
            </a:r>
            <a:r>
              <a:rPr lang="en-GB" sz="2000" b="0" u="none" strike="noStrike" dirty="0" err="1">
                <a:solidFill>
                  <a:srgbClr val="FFFFFF"/>
                </a:solidFill>
                <a:effectLst/>
                <a:uFillTx/>
                <a:latin typeface="Arial"/>
              </a:rPr>
              <a:t>Exkurs</a:t>
            </a:r>
            <a:r>
              <a:rPr lang="en-GB" sz="20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:</a:t>
            </a:r>
            <a:br>
              <a:rPr sz="2000" dirty="0"/>
            </a:br>
            <a:r>
              <a:rPr lang="en-GB" sz="20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   Saves</a:t>
            </a:r>
          </a:p>
          <a:p>
            <a:endParaRPr lang="en-GB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6" name="Grafik 115"/>
          <p:cNvPicPr/>
          <p:nvPr/>
        </p:nvPicPr>
        <p:blipFill>
          <a:blip r:embed="rId2"/>
          <a:srcRect r="12507" b="21563"/>
          <a:stretch/>
        </p:blipFill>
        <p:spPr>
          <a:xfrm>
            <a:off x="2700000" y="1080360"/>
            <a:ext cx="5037480" cy="359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2AC4B05-5CA0-AAA4-0D4A-C369CD646690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30"/>
          <p:cNvSpPr/>
          <p:nvPr/>
        </p:nvSpPr>
        <p:spPr>
          <a:xfrm>
            <a:off x="4518313" y="919809"/>
            <a:ext cx="1044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Saveable</a:t>
            </a:r>
          </a:p>
        </p:txBody>
      </p:sp>
      <p:sp>
        <p:nvSpPr>
          <p:cNvPr id="118" name="Shape 131"/>
          <p:cNvSpPr/>
          <p:nvPr/>
        </p:nvSpPr>
        <p:spPr>
          <a:xfrm>
            <a:off x="3294312" y="2304000"/>
            <a:ext cx="1044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5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+get(key)</a:t>
            </a:r>
          </a:p>
        </p:txBody>
      </p:sp>
      <p:sp>
        <p:nvSpPr>
          <p:cNvPr id="119" name="Shape 132"/>
          <p:cNvSpPr/>
          <p:nvPr/>
        </p:nvSpPr>
        <p:spPr>
          <a:xfrm>
            <a:off x="5742312" y="2304000"/>
            <a:ext cx="162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5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+set(key ,value)</a:t>
            </a:r>
          </a:p>
        </p:txBody>
      </p:sp>
      <p:sp>
        <p:nvSpPr>
          <p:cNvPr id="120" name="Shape 133"/>
          <p:cNvSpPr/>
          <p:nvPr/>
        </p:nvSpPr>
        <p:spPr>
          <a:xfrm>
            <a:off x="4338312" y="1493819"/>
            <a:ext cx="1404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500" b="0" u="none" strike="noStrike" dirty="0" err="1">
                <a:solidFill>
                  <a:srgbClr val="FFFFFF"/>
                </a:solidFill>
                <a:effectLst/>
                <a:uFillTx/>
                <a:latin typeface="Arial"/>
              </a:rPr>
              <a:t>SaveManager</a:t>
            </a:r>
            <a:endParaRPr lang="en-GB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21" name="Verbinder: gewinkelt 120"/>
          <p:cNvCxnSpPr>
            <a:stCxn id="117" idx="2"/>
            <a:endCxn id="120" idx="0"/>
          </p:cNvCxnSpPr>
          <p:nvPr/>
        </p:nvCxnSpPr>
        <p:spPr>
          <a:xfrm rot="5400000">
            <a:off x="4933308" y="1386814"/>
            <a:ext cx="214010" cy="1"/>
          </a:xfrm>
          <a:prstGeom prst="bentConnector3">
            <a:avLst>
              <a:gd name="adj1" fmla="val 50000"/>
            </a:avLst>
          </a:prstGeom>
          <a:ln w="12600">
            <a:solidFill>
              <a:srgbClr val="000000"/>
            </a:solidFill>
            <a:round/>
            <a:tailEnd type="triangle" w="med" len="med"/>
          </a:ln>
        </p:spPr>
      </p:cxnSp>
      <p:cxnSp>
        <p:nvCxnSpPr>
          <p:cNvPr id="122" name="Verbinder: gewinkelt 121"/>
          <p:cNvCxnSpPr>
            <a:stCxn id="120" idx="2"/>
            <a:endCxn id="118" idx="3"/>
          </p:cNvCxnSpPr>
          <p:nvPr/>
        </p:nvCxnSpPr>
        <p:spPr>
          <a:xfrm rot="5400000">
            <a:off x="4374222" y="1817909"/>
            <a:ext cx="630181" cy="702000"/>
          </a:xfrm>
          <a:prstGeom prst="bentConnector2">
            <a:avLst/>
          </a:prstGeom>
          <a:ln w="12600">
            <a:solidFill>
              <a:srgbClr val="020E1D"/>
            </a:solidFill>
            <a:round/>
            <a:tailEnd type="triangle" w="med" len="med"/>
          </a:ln>
        </p:spPr>
      </p:cxnSp>
      <p:cxnSp>
        <p:nvCxnSpPr>
          <p:cNvPr id="123" name="Verbinder: gewinkelt 122"/>
          <p:cNvCxnSpPr>
            <a:stCxn id="120" idx="2"/>
            <a:endCxn id="119" idx="1"/>
          </p:cNvCxnSpPr>
          <p:nvPr/>
        </p:nvCxnSpPr>
        <p:spPr>
          <a:xfrm rot="16200000" flipH="1">
            <a:off x="5076222" y="1817909"/>
            <a:ext cx="630181" cy="702000"/>
          </a:xfrm>
          <a:prstGeom prst="bentConnector2">
            <a:avLst/>
          </a:prstGeom>
          <a:ln w="12600">
            <a:solidFill>
              <a:srgbClr val="020E1D"/>
            </a:solidFill>
            <a:round/>
            <a:tailEnd type="triangle" w="med" len="med"/>
          </a:ln>
        </p:spPr>
      </p:cxnSp>
      <p:sp>
        <p:nvSpPr>
          <p:cNvPr id="124" name="Shape 134"/>
          <p:cNvSpPr/>
          <p:nvPr/>
        </p:nvSpPr>
        <p:spPr>
          <a:xfrm>
            <a:off x="1620312" y="2849298"/>
            <a:ext cx="6840000" cy="7927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- Kann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eine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key/value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kombination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in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einer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Datei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speichern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und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auslesen</a:t>
            </a:r>
            <a:endParaRPr lang="en-GB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→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wie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in </a:t>
            </a: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einer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Map</a:t>
            </a:r>
            <a:endParaRPr lang="en-GB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Beispiel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: </a:t>
            </a:r>
            <a:endParaRPr lang="en-GB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35"/>
          <p:cNvSpPr/>
          <p:nvPr/>
        </p:nvSpPr>
        <p:spPr>
          <a:xfrm>
            <a:off x="3420312" y="3879469"/>
            <a:ext cx="3240000" cy="1407991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300" b="0" u="none" strike="noStrike" dirty="0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#Mon Aug 31 21:01:02 CEST 2026</a:t>
            </a:r>
            <a:endParaRPr lang="en-GB" sz="13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 dirty="0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volume=89</a:t>
            </a:r>
            <a:endParaRPr lang="en-GB" sz="13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 dirty="0" err="1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lastMap</a:t>
            </a:r>
            <a:r>
              <a:rPr lang="en-US" sz="1300" b="0" u="none" strike="noStrike" dirty="0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=1</a:t>
            </a:r>
            <a:endParaRPr lang="en-GB" sz="13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 dirty="0" err="1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TutorialStatus</a:t>
            </a:r>
            <a:r>
              <a:rPr lang="en-US" sz="1300" b="0" u="none" strike="noStrike" dirty="0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=true</a:t>
            </a:r>
            <a:endParaRPr lang="en-GB" sz="13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 dirty="0" err="1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soundEnabled</a:t>
            </a:r>
            <a:r>
              <a:rPr lang="en-US" sz="1300" b="0" u="none" strike="noStrike" dirty="0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=true</a:t>
            </a:r>
            <a:endParaRPr lang="en-GB" sz="13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 dirty="0" err="1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lastTypedIP</a:t>
            </a:r>
            <a:r>
              <a:rPr lang="en-US" sz="1300" b="0" u="none" strike="noStrike" dirty="0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=127.0.0.1</a:t>
            </a:r>
            <a:endParaRPr lang="en-GB" sz="13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3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29"/>
          <p:cNvSpPr/>
          <p:nvPr/>
        </p:nvSpPr>
        <p:spPr>
          <a:xfrm>
            <a:off x="4338312" y="-11220"/>
            <a:ext cx="1404000" cy="72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en-GB" sz="20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  </a:t>
            </a:r>
            <a:r>
              <a:rPr lang="en-GB" sz="2000" b="0" u="none" strike="noStrike" dirty="0" err="1">
                <a:solidFill>
                  <a:srgbClr val="FFFFFF"/>
                </a:solidFill>
                <a:effectLst/>
                <a:uFillTx/>
                <a:latin typeface="Arial"/>
              </a:rPr>
              <a:t>Exkurs</a:t>
            </a:r>
            <a:r>
              <a:rPr lang="en-GB" sz="20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:</a:t>
            </a:r>
          </a:p>
          <a:p>
            <a:pPr algn="ctr"/>
            <a:r>
              <a:rPr lang="en-GB" sz="200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GB" sz="20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Saves</a:t>
            </a:r>
          </a:p>
          <a:p>
            <a:endParaRPr lang="en-GB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C7FE84C-869F-D42F-8ABC-7A2EA14D49D2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40"/>
          <p:cNvSpPr/>
          <p:nvPr/>
        </p:nvSpPr>
        <p:spPr>
          <a:xfrm>
            <a:off x="3420000" y="18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NL NFM Light"/>
              </a:rPr>
              <a:t> Spieler wählt Map aus</a:t>
            </a:r>
          </a:p>
        </p:txBody>
      </p:sp>
      <p:sp>
        <p:nvSpPr>
          <p:cNvPr id="128" name="Shape 41"/>
          <p:cNvSpPr/>
          <p:nvPr/>
        </p:nvSpPr>
        <p:spPr>
          <a:xfrm>
            <a:off x="2340000" y="900000"/>
            <a:ext cx="540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1260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Map holt sich Enemies vom WaveManager</a:t>
            </a:r>
          </a:p>
        </p:txBody>
      </p:sp>
      <p:sp>
        <p:nvSpPr>
          <p:cNvPr id="129" name="Shape 42"/>
          <p:cNvSpPr/>
          <p:nvPr/>
        </p:nvSpPr>
        <p:spPr>
          <a:xfrm>
            <a:off x="3420000" y="180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Map spawnt die Enemies</a:t>
            </a:r>
          </a:p>
        </p:txBody>
      </p:sp>
      <p:sp>
        <p:nvSpPr>
          <p:cNvPr id="130" name="Shape 43"/>
          <p:cNvSpPr/>
          <p:nvPr/>
        </p:nvSpPr>
        <p:spPr>
          <a:xfrm>
            <a:off x="3420000" y="270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Spieler kauft Towers</a:t>
            </a:r>
          </a:p>
        </p:txBody>
      </p:sp>
      <p:sp>
        <p:nvSpPr>
          <p:cNvPr id="131" name="Shape 44"/>
          <p:cNvSpPr/>
          <p:nvPr/>
        </p:nvSpPr>
        <p:spPr>
          <a:xfrm>
            <a:off x="3420000" y="3780000"/>
            <a:ext cx="342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Tower visiert Enemy an</a:t>
            </a:r>
          </a:p>
        </p:txBody>
      </p:sp>
      <p:sp>
        <p:nvSpPr>
          <p:cNvPr id="132" name="Shape 45"/>
          <p:cNvSpPr/>
          <p:nvPr/>
        </p:nvSpPr>
        <p:spPr>
          <a:xfrm>
            <a:off x="3060000" y="4860000"/>
            <a:ext cx="396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 NF Light"/>
              </a:rPr>
              <a:t> Tower </a:t>
            </a:r>
            <a:r>
              <a:rPr lang="en-GB" sz="1800" b="0" u="none" strike="noStrike" dirty="0" err="1">
                <a:solidFill>
                  <a:srgbClr val="FFFFFF"/>
                </a:solidFill>
                <a:effectLst/>
                <a:uFillTx/>
                <a:latin typeface="JetBrainsMono NF Light"/>
              </a:rPr>
              <a:t>schießt</a:t>
            </a:r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 NF Light"/>
              </a:rPr>
              <a:t> </a:t>
            </a:r>
            <a:r>
              <a:rPr lang="en-GB" dirty="0" err="1">
                <a:solidFill>
                  <a:srgbClr val="FFFFFF"/>
                </a:solidFill>
                <a:latin typeface="JetBrainsMono NF Light"/>
              </a:rPr>
              <a:t>Projektile</a:t>
            </a:r>
            <a:endParaRPr lang="en-GB" sz="1800" b="0" u="none" strike="noStrike" dirty="0">
              <a:solidFill>
                <a:srgbClr val="FFFFFF"/>
              </a:solidFill>
              <a:effectLst/>
              <a:uFillTx/>
              <a:latin typeface="JetBrainsMono NF Light"/>
            </a:endParaRPr>
          </a:p>
        </p:txBody>
      </p:sp>
      <p:sp>
        <p:nvSpPr>
          <p:cNvPr id="133" name="Gerader Verbinder 132"/>
          <p:cNvSpPr/>
          <p:nvPr/>
        </p:nvSpPr>
        <p:spPr>
          <a:xfrm>
            <a:off x="5040000" y="540000"/>
            <a:ext cx="0" cy="36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erader Verbinder 133"/>
          <p:cNvSpPr/>
          <p:nvPr/>
        </p:nvSpPr>
        <p:spPr>
          <a:xfrm>
            <a:off x="5040000" y="1260000"/>
            <a:ext cx="0" cy="54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erader Verbinder 134"/>
          <p:cNvSpPr/>
          <p:nvPr/>
        </p:nvSpPr>
        <p:spPr>
          <a:xfrm>
            <a:off x="5040000" y="2160000"/>
            <a:ext cx="0" cy="54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erader Verbinder 135"/>
          <p:cNvSpPr/>
          <p:nvPr/>
        </p:nvSpPr>
        <p:spPr>
          <a:xfrm>
            <a:off x="5040000" y="3060000"/>
            <a:ext cx="0" cy="72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erader Verbinder 136"/>
          <p:cNvSpPr/>
          <p:nvPr/>
        </p:nvSpPr>
        <p:spPr>
          <a:xfrm>
            <a:off x="5040000" y="4140000"/>
            <a:ext cx="0" cy="72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A9CCEB0-8E25-CB13-108D-15932F77C5DC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2"/>
          <p:cNvSpPr/>
          <p:nvPr/>
        </p:nvSpPr>
        <p:spPr>
          <a:xfrm>
            <a:off x="3420000" y="18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NL NFM Light"/>
              </a:rPr>
              <a:t> Spieler wählt Map aus</a:t>
            </a:r>
          </a:p>
        </p:txBody>
      </p:sp>
      <p:sp>
        <p:nvSpPr>
          <p:cNvPr id="139" name="Shape 13"/>
          <p:cNvSpPr/>
          <p:nvPr/>
        </p:nvSpPr>
        <p:spPr>
          <a:xfrm>
            <a:off x="2340000" y="900000"/>
            <a:ext cx="540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Map holt sich Enemies vom WaveManager</a:t>
            </a:r>
          </a:p>
        </p:txBody>
      </p:sp>
      <p:sp>
        <p:nvSpPr>
          <p:cNvPr id="140" name="Shape 14"/>
          <p:cNvSpPr/>
          <p:nvPr/>
        </p:nvSpPr>
        <p:spPr>
          <a:xfrm>
            <a:off x="3420000" y="180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1260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Map spawnt die Enemies</a:t>
            </a:r>
          </a:p>
        </p:txBody>
      </p:sp>
      <p:sp>
        <p:nvSpPr>
          <p:cNvPr id="141" name="Shape 15"/>
          <p:cNvSpPr/>
          <p:nvPr/>
        </p:nvSpPr>
        <p:spPr>
          <a:xfrm>
            <a:off x="3420000" y="270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Spieler kauft Towers</a:t>
            </a:r>
          </a:p>
        </p:txBody>
      </p:sp>
      <p:sp>
        <p:nvSpPr>
          <p:cNvPr id="142" name="Shape 16"/>
          <p:cNvSpPr/>
          <p:nvPr/>
        </p:nvSpPr>
        <p:spPr>
          <a:xfrm>
            <a:off x="3420000" y="3780000"/>
            <a:ext cx="342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Tower visiert Enemy an</a:t>
            </a:r>
          </a:p>
        </p:txBody>
      </p:sp>
      <p:sp>
        <p:nvSpPr>
          <p:cNvPr id="143" name="Shape 17"/>
          <p:cNvSpPr/>
          <p:nvPr/>
        </p:nvSpPr>
        <p:spPr>
          <a:xfrm>
            <a:off x="3060000" y="4860000"/>
            <a:ext cx="396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 NF Light"/>
              </a:rPr>
              <a:t> Tower </a:t>
            </a:r>
            <a:r>
              <a:rPr lang="en-GB" sz="1800" b="0" u="none" strike="noStrike" dirty="0" err="1">
                <a:solidFill>
                  <a:srgbClr val="FFFFFF"/>
                </a:solidFill>
                <a:effectLst/>
                <a:uFillTx/>
                <a:latin typeface="JetBrainsMono NF Light"/>
              </a:rPr>
              <a:t>schießt</a:t>
            </a:r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 NF Light"/>
              </a:rPr>
              <a:t> </a:t>
            </a:r>
            <a:r>
              <a:rPr lang="en-GB" dirty="0" err="1">
                <a:solidFill>
                  <a:srgbClr val="FFFFFF"/>
                </a:solidFill>
                <a:latin typeface="JetBrainsMono NF Light"/>
              </a:rPr>
              <a:t>Projektile</a:t>
            </a:r>
            <a:endParaRPr lang="en-GB" sz="1800" b="0" u="none" strike="noStrike" dirty="0">
              <a:solidFill>
                <a:srgbClr val="FFFFFF"/>
              </a:solidFill>
              <a:effectLst/>
              <a:uFillTx/>
              <a:latin typeface="JetBrainsMono NF Light"/>
            </a:endParaRPr>
          </a:p>
        </p:txBody>
      </p:sp>
      <p:sp>
        <p:nvSpPr>
          <p:cNvPr id="144" name="Gerader Verbinder 143"/>
          <p:cNvSpPr/>
          <p:nvPr/>
        </p:nvSpPr>
        <p:spPr>
          <a:xfrm>
            <a:off x="5040000" y="540000"/>
            <a:ext cx="0" cy="36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erader Verbinder 144"/>
          <p:cNvSpPr/>
          <p:nvPr/>
        </p:nvSpPr>
        <p:spPr>
          <a:xfrm>
            <a:off x="5040000" y="1260000"/>
            <a:ext cx="0" cy="54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erader Verbinder 145"/>
          <p:cNvSpPr/>
          <p:nvPr/>
        </p:nvSpPr>
        <p:spPr>
          <a:xfrm>
            <a:off x="5040000" y="2160000"/>
            <a:ext cx="0" cy="54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Gerader Verbinder 146"/>
          <p:cNvSpPr/>
          <p:nvPr/>
        </p:nvSpPr>
        <p:spPr>
          <a:xfrm>
            <a:off x="5040000" y="3060000"/>
            <a:ext cx="0" cy="72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erader Verbinder 147"/>
          <p:cNvSpPr/>
          <p:nvPr/>
        </p:nvSpPr>
        <p:spPr>
          <a:xfrm>
            <a:off x="5040000" y="4140000"/>
            <a:ext cx="0" cy="72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74B64CF-6CE5-95DB-B3AE-EEB7C330BCCC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20"/>
          <p:cNvSpPr/>
          <p:nvPr/>
        </p:nvSpPr>
        <p:spPr>
          <a:xfrm>
            <a:off x="3420000" y="18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Map spawnt die Enemies</a:t>
            </a:r>
          </a:p>
        </p:txBody>
      </p:sp>
      <p:sp>
        <p:nvSpPr>
          <p:cNvPr id="150" name="Shape 11"/>
          <p:cNvSpPr/>
          <p:nvPr/>
        </p:nvSpPr>
        <p:spPr>
          <a:xfrm>
            <a:off x="396000" y="1304999"/>
            <a:ext cx="9288000" cy="3125921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050" b="0" u="none" strike="noStrike" dirty="0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public void </a:t>
            </a:r>
            <a:r>
              <a:rPr lang="en-GB" sz="1050" b="0" u="none" strike="noStrike" dirty="0" err="1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spawnWave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1050" b="0" u="none" strike="noStrike" dirty="0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wave, </a:t>
            </a:r>
            <a:r>
              <a:rPr lang="en-GB" sz="1050" b="0" u="none" strike="noStrike" dirty="0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050" b="0" u="none" strike="noStrike" dirty="0" err="1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spawnDelay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endParaRPr lang="en-GB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	… </a:t>
            </a:r>
            <a:r>
              <a:rPr lang="en-GB" sz="1050" b="0" u="none" strike="noStrike" dirty="0">
                <a:solidFill>
                  <a:srgbClr val="7A7E85"/>
                </a:solidFill>
                <a:effectLst/>
                <a:uFillTx/>
                <a:latin typeface="JetBrains Mono"/>
                <a:ea typeface="JetBrains Mono"/>
              </a:rPr>
              <a:t>// code von </a:t>
            </a:r>
            <a:r>
              <a:rPr lang="en-GB" sz="1050" b="0" u="none" strike="noStrike" dirty="0" err="1">
                <a:solidFill>
                  <a:srgbClr val="7A7E85"/>
                </a:solidFill>
                <a:effectLst/>
                <a:uFillTx/>
                <a:latin typeface="JetBrains Mono"/>
                <a:ea typeface="JetBrains Mono"/>
              </a:rPr>
              <a:t>vorhin</a:t>
            </a:r>
            <a:endParaRPr lang="en-GB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GB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	</a:t>
            </a:r>
            <a:r>
              <a:rPr lang="en-GB" sz="1050" b="0" u="none" strike="noStrike" dirty="0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delay = (</a:t>
            </a:r>
            <a:r>
              <a:rPr lang="en-GB" sz="1050" b="0" u="none" strike="noStrike" dirty="0" err="1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spawnDelay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- (</a:t>
            </a:r>
            <a:r>
              <a:rPr lang="en-GB" sz="1050" b="0" u="none" strike="noStrike" dirty="0" err="1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getWave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() / </a:t>
            </a:r>
            <a:r>
              <a:rPr lang="en-GB" sz="1050" b="0" u="none" strike="noStrike" dirty="0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));</a:t>
            </a:r>
            <a:br>
              <a:rPr sz="1050" dirty="0"/>
            </a:b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	</a:t>
            </a:r>
            <a:r>
              <a:rPr lang="en-GB" sz="1050" b="0" u="none" strike="noStrike" dirty="0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if 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(delay &lt; </a:t>
            </a:r>
            <a:r>
              <a:rPr lang="en-GB" sz="1050" b="0" u="none" strike="noStrike" dirty="0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050" dirty="0"/>
            </a:b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		delay = </a:t>
            </a:r>
            <a:r>
              <a:rPr lang="en-GB" sz="1050" b="0" u="none" strike="noStrike" dirty="0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050" dirty="0"/>
            </a:b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	}</a:t>
            </a:r>
            <a:br>
              <a:rPr sz="1050" dirty="0"/>
            </a:b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	</a:t>
            </a:r>
            <a:r>
              <a:rPr lang="en-GB" sz="1050" b="0" u="none" strike="noStrike" dirty="0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if 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1050" b="0" u="none" strike="noStrike" dirty="0" err="1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spawnDelayCounter</a:t>
            </a:r>
            <a:r>
              <a:rPr lang="en-GB" sz="1050" b="0" u="none" strike="noStrike" dirty="0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&lt; delay) {</a:t>
            </a:r>
            <a:br>
              <a:rPr sz="1050" dirty="0"/>
            </a:br>
            <a:r>
              <a:rPr lang="en-GB" sz="1050" b="0" u="none" strike="noStrike" dirty="0">
                <a:solidFill>
                  <a:srgbClr val="7A7E85"/>
                </a:solidFill>
                <a:effectLst/>
                <a:uFillTx/>
                <a:latin typeface="JetBrains Mono"/>
                <a:ea typeface="JetBrains Mono"/>
              </a:rPr>
              <a:t>     		</a:t>
            </a:r>
            <a:r>
              <a:rPr lang="en-GB" sz="1050" b="0" u="none" strike="noStrike" dirty="0" err="1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spawnDelayCounter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++;</a:t>
            </a:r>
            <a:br>
              <a:rPr sz="1050" dirty="0"/>
            </a:b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		</a:t>
            </a:r>
            <a:r>
              <a:rPr lang="en-GB" sz="1050" b="0" u="none" strike="noStrike" dirty="0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return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050" dirty="0"/>
            </a:b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	}</a:t>
            </a:r>
            <a:br>
              <a:rPr sz="1050" dirty="0"/>
            </a:b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	</a:t>
            </a:r>
            <a:r>
              <a:rPr lang="en-GB" sz="1050" b="0" u="none" strike="noStrike" dirty="0" err="1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spawnDelayCounter</a:t>
            </a:r>
            <a:r>
              <a:rPr lang="en-GB" sz="1050" b="0" u="none" strike="noStrike" dirty="0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lang="en-GB" sz="1050" b="0" u="none" strike="noStrike" dirty="0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lang="en-GB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GB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	Enemy </a:t>
            </a:r>
            <a:r>
              <a:rPr lang="en-GB" sz="1050" b="0" u="none" strike="noStrike" dirty="0" err="1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enemy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= </a:t>
            </a:r>
            <a:r>
              <a:rPr lang="en-GB" sz="1050" b="0" u="none" strike="noStrike" dirty="0" err="1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enemiesToSpawn</a:t>
            </a:r>
            <a:r>
              <a:rPr lang="en-GB" sz="1050" b="0" u="none" strike="noStrike" dirty="0" err="1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.get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1050" b="0" u="none" strike="noStrike" dirty="0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050" dirty="0"/>
            </a:b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	</a:t>
            </a:r>
            <a:r>
              <a:rPr lang="en-GB" sz="1050" b="0" u="none" strike="noStrike" dirty="0" err="1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addObject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(enemy, </a:t>
            </a:r>
            <a:r>
              <a:rPr lang="en-GB" sz="1050" b="0" u="none" strike="noStrike" dirty="0" err="1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getSpawnLocation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()[</a:t>
            </a:r>
            <a:r>
              <a:rPr lang="en-GB" sz="1050" b="0" u="none" strike="noStrike" dirty="0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], </a:t>
            </a:r>
            <a:r>
              <a:rPr lang="en-GB" sz="1050" b="0" u="none" strike="noStrike" dirty="0" err="1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getSpawnLocation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()[</a:t>
            </a:r>
            <a:r>
              <a:rPr lang="en-GB" sz="1050" b="0" u="none" strike="noStrike" dirty="0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]);</a:t>
            </a:r>
            <a:br>
              <a:rPr sz="1050" dirty="0"/>
            </a:b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	</a:t>
            </a:r>
            <a:r>
              <a:rPr lang="en-GB" sz="1050" b="0" u="none" strike="noStrike" dirty="0" err="1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aliveEnemies</a:t>
            </a:r>
            <a:r>
              <a:rPr lang="en-GB" sz="1050" b="0" u="none" strike="noStrike" dirty="0" err="1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.add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(enemy);</a:t>
            </a:r>
            <a:endParaRPr lang="en-GB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GB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	</a:t>
            </a:r>
            <a:r>
              <a:rPr lang="en-GB" sz="1050" b="0" u="none" strike="noStrike" dirty="0" err="1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enemiesToSpawn</a:t>
            </a:r>
            <a:r>
              <a:rPr lang="en-GB" sz="1050" b="0" u="none" strike="noStrike" dirty="0" err="1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.remove</a:t>
            </a:r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(enemy);</a:t>
            </a:r>
            <a:endParaRPr lang="en-GB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GB" sz="1050" b="0" u="none" strike="noStrike" dirty="0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lang="en-GB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feld 150"/>
          <p:cNvSpPr txBox="1"/>
          <p:nvPr/>
        </p:nvSpPr>
        <p:spPr>
          <a:xfrm>
            <a:off x="360000" y="1027800"/>
            <a:ext cx="103860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en-GB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GameMap.java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D1E0782-9503-8F92-D924-66A23F92847A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00"/>
          <p:cNvSpPr/>
          <p:nvPr/>
        </p:nvSpPr>
        <p:spPr>
          <a:xfrm>
            <a:off x="4433171" y="0"/>
            <a:ext cx="1214281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 NF Light"/>
              </a:rPr>
              <a:t>Enemies</a:t>
            </a:r>
          </a:p>
        </p:txBody>
      </p:sp>
      <p:sp>
        <p:nvSpPr>
          <p:cNvPr id="153" name="Shape 101"/>
          <p:cNvSpPr/>
          <p:nvPr/>
        </p:nvSpPr>
        <p:spPr>
          <a:xfrm>
            <a:off x="540000" y="3240000"/>
            <a:ext cx="9180000" cy="21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public void </a:t>
            </a:r>
            <a:r>
              <a:rPr lang="en-GB" sz="120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findPath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() {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List&lt;Path&gt; pathList = getWorld().getObjectsAt(getX(), getY(), Path.</a:t>
            </a:r>
            <a:r>
              <a:rPr lang="en-GB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class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if 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(!pathList.isEmpty()) {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Path path = pathList.get(</a:t>
            </a:r>
            <a:r>
              <a:rPr lang="en-GB" sz="12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lang="en-GB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this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lang="en-GB" sz="12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nextX 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= path.getNextPathX();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lang="en-GB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this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lang="en-GB" sz="12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nextY 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= path.getNextPathY();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lang="en-GB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if 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((</a:t>
            </a:r>
            <a:r>
              <a:rPr lang="en-GB" sz="12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nextX 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== </a:t>
            </a:r>
            <a:r>
              <a:rPr lang="en-GB" sz="12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 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&amp;&amp; </a:t>
            </a:r>
            <a:r>
              <a:rPr lang="en-GB" sz="12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nextY 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== </a:t>
            </a:r>
            <a:r>
              <a:rPr lang="en-GB" sz="12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en-GB" sz="1200" b="0" u="none" strike="noStrike">
                <a:solidFill>
                  <a:srgbClr val="FFFFFF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lang="en-GB" sz="12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 &amp;&amp; 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getWorld() != </a:t>
            </a:r>
            <a:r>
              <a:rPr lang="en-GB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null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	gameMap.removeObject(</a:t>
            </a:r>
            <a:r>
              <a:rPr lang="en-GB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this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}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feld 153"/>
          <p:cNvSpPr txBox="1"/>
          <p:nvPr/>
        </p:nvSpPr>
        <p:spPr>
          <a:xfrm>
            <a:off x="540000" y="3007800"/>
            <a:ext cx="83232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en-GB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Enemy.java</a:t>
            </a:r>
          </a:p>
        </p:txBody>
      </p:sp>
      <p:sp>
        <p:nvSpPr>
          <p:cNvPr id="155" name="Shape 103"/>
          <p:cNvSpPr/>
          <p:nvPr/>
        </p:nvSpPr>
        <p:spPr>
          <a:xfrm>
            <a:off x="2520000" y="792000"/>
            <a:ext cx="5148000" cy="2088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public class 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EnemyLevel4 </a:t>
            </a:r>
            <a:r>
              <a:rPr lang="en-GB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extends 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Enemy {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public </a:t>
            </a:r>
            <a:r>
              <a:rPr lang="en-GB" sz="120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EnemyLevel4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() {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lang="en-GB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super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1200" b="0" u="none" strike="noStrike">
                <a:solidFill>
                  <a:srgbClr val="666666"/>
                </a:solidFill>
                <a:effectLst/>
                <a:uFillTx/>
                <a:latin typeface="JetBrains Mono"/>
                <a:ea typeface="JetBrains Mono"/>
              </a:rPr>
              <a:t>speed: </a:t>
            </a:r>
            <a:r>
              <a:rPr lang="en-GB" sz="12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</a:t>
            </a:r>
            <a:r>
              <a:rPr lang="en-GB" sz="1200" b="0" u="none" strike="noStrike">
                <a:solidFill>
                  <a:srgbClr val="666666"/>
                </a:solidFill>
                <a:effectLst/>
                <a:uFillTx/>
                <a:latin typeface="JetBrains Mono"/>
                <a:ea typeface="JetBrains Mono"/>
              </a:rPr>
              <a:t>lives: </a:t>
            </a:r>
            <a:r>
              <a:rPr lang="en-GB" sz="12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80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setImage(</a:t>
            </a:r>
            <a:r>
              <a:rPr lang="en-GB" sz="1200" b="0" u="none" strike="noStrike">
                <a:solidFill>
                  <a:srgbClr val="6AAB73"/>
                </a:solidFill>
                <a:effectLst/>
                <a:uFillTx/>
                <a:latin typeface="JetBrains Mono"/>
                <a:ea typeface="JetBrains Mono"/>
              </a:rPr>
              <a:t>"enemies/Pillar.png"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1200"/>
            </a:b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200" b="0" u="none" strike="noStrike">
                <a:solidFill>
                  <a:srgbClr val="B3AE60"/>
                </a:solidFill>
                <a:effectLst/>
                <a:uFillTx/>
                <a:latin typeface="JetBrains Mono"/>
                <a:ea typeface="JetBrains Mono"/>
              </a:rPr>
              <a:t>@Override</a:t>
            </a:r>
            <a:br>
              <a:rPr sz="1200"/>
            </a:br>
            <a:r>
              <a:rPr lang="en-GB" sz="1200" b="0" u="none" strike="noStrike">
                <a:solidFill>
                  <a:srgbClr val="B3AE60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public 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String </a:t>
            </a:r>
            <a:r>
              <a:rPr lang="en-GB" sz="120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getName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() {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lang="en-GB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return </a:t>
            </a:r>
            <a:r>
              <a:rPr lang="en-GB" sz="1200" b="0" u="none" strike="noStrike">
                <a:solidFill>
                  <a:srgbClr val="6AAB73"/>
                </a:solidFill>
                <a:effectLst/>
                <a:uFillTx/>
                <a:latin typeface="JetBrains Mono"/>
                <a:ea typeface="JetBrains Mono"/>
              </a:rPr>
              <a:t>"EnemyLevel4"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feld 155"/>
          <p:cNvSpPr txBox="1"/>
          <p:nvPr/>
        </p:nvSpPr>
        <p:spPr>
          <a:xfrm>
            <a:off x="2520000" y="540000"/>
            <a:ext cx="121428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en-GB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EnemyLevel4.java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1E1BACA-9D67-8599-93FB-4F919935717C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91"/>
          <p:cNvSpPr/>
          <p:nvPr/>
        </p:nvSpPr>
        <p:spPr>
          <a:xfrm>
            <a:off x="1260000" y="540000"/>
            <a:ext cx="8280000" cy="468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8" name="Grafik 157"/>
          <p:cNvPicPr/>
          <p:nvPr/>
        </p:nvPicPr>
        <p:blipFill>
          <a:blip r:embed="rId2"/>
          <a:stretch/>
        </p:blipFill>
        <p:spPr>
          <a:xfrm>
            <a:off x="1440000" y="694800"/>
            <a:ext cx="7938720" cy="434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Shape 108"/>
          <p:cNvSpPr/>
          <p:nvPr/>
        </p:nvSpPr>
        <p:spPr>
          <a:xfrm>
            <a:off x="4320000" y="108000"/>
            <a:ext cx="198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Exkurs: Paths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D30D9C1-1542-D2C3-919F-F5C4B40EF641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10"/>
          <p:cNvSpPr/>
          <p:nvPr/>
        </p:nvSpPr>
        <p:spPr>
          <a:xfrm>
            <a:off x="4320000" y="108000"/>
            <a:ext cx="198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Exkurs: Paths</a:t>
            </a:r>
          </a:p>
        </p:txBody>
      </p:sp>
      <p:sp>
        <p:nvSpPr>
          <p:cNvPr id="161" name="Shape 109"/>
          <p:cNvSpPr/>
          <p:nvPr/>
        </p:nvSpPr>
        <p:spPr>
          <a:xfrm>
            <a:off x="360000" y="792000"/>
            <a:ext cx="9000000" cy="1368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6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public </a:t>
            </a:r>
            <a:r>
              <a:rPr lang="en-GB" sz="160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GameMap1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() {</a:t>
            </a:r>
            <a:br>
              <a:rPr sz="1600"/>
            </a:b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6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[][] pathLocations = {{</a:t>
            </a:r>
            <a:r>
              <a:rPr lang="en-GB" sz="16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lang="en-GB" sz="16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233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}, {</a:t>
            </a:r>
            <a:r>
              <a:rPr lang="en-GB" sz="16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752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lang="en-GB" sz="16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233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}, {</a:t>
            </a:r>
            <a:r>
              <a:rPr lang="en-GB" sz="16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752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lang="en-GB" sz="16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531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}, {</a:t>
            </a:r>
            <a:r>
              <a:rPr lang="en-GB" sz="16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1414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lang="en-GB" sz="16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531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}, {</a:t>
            </a:r>
            <a:r>
              <a:rPr lang="en-GB" sz="16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1414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getHeight()}};</a:t>
            </a:r>
            <a:br>
              <a:rPr sz="1600"/>
            </a:b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6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super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.addPath(pathLocations);</a:t>
            </a:r>
            <a:br>
              <a:rPr sz="1600"/>
            </a:b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feld 161"/>
          <p:cNvSpPr txBox="1"/>
          <p:nvPr/>
        </p:nvSpPr>
        <p:spPr>
          <a:xfrm>
            <a:off x="360000" y="540000"/>
            <a:ext cx="110880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en-GB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GameMap1.java</a:t>
            </a:r>
          </a:p>
        </p:txBody>
      </p:sp>
      <p:sp>
        <p:nvSpPr>
          <p:cNvPr id="163" name="Shape 111"/>
          <p:cNvSpPr/>
          <p:nvPr/>
        </p:nvSpPr>
        <p:spPr>
          <a:xfrm>
            <a:off x="900000" y="3600000"/>
            <a:ext cx="7920000" cy="12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600" b="0" u="none" strike="noStrike">
                <a:solidFill>
                  <a:srgbClr val="FFFFFF"/>
                </a:solidFill>
                <a:effectLst/>
                <a:uFillTx/>
                <a:latin typeface="JetBrains Mono"/>
                <a:ea typeface="JetBrains Mono"/>
              </a:rPr>
              <a:t>- Verbundenes System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GB" sz="1600" b="0" u="none" strike="noStrike">
                <a:solidFill>
                  <a:srgbClr val="FFFFFF"/>
                </a:solidFill>
                <a:effectLst/>
                <a:uFillTx/>
                <a:latin typeface="JetBrains Mono"/>
                <a:ea typeface="JetBrains Mono"/>
              </a:rPr>
              <a:t>→ Jeder path gibt den Standort vom nächsten an, wie eine Liste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GB" sz="1600" b="0" u="none" strike="noStrike">
                <a:solidFill>
                  <a:srgbClr val="FFFFFF"/>
                </a:solidFill>
                <a:effectLst/>
                <a:uFillTx/>
                <a:latin typeface="JetBrains Mono"/>
                <a:ea typeface="JetBrains Mono"/>
              </a:rPr>
              <a:t>- Hilfsklasse “MapCoordinatesUtilGuy.java”, die mit ein Paar      klicks einen Funktionalen path erstellt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902156A-9F72-A88F-3482-3C45A18DC8AF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04"/>
          <p:cNvSpPr/>
          <p:nvPr/>
        </p:nvSpPr>
        <p:spPr>
          <a:xfrm>
            <a:off x="4469610" y="0"/>
            <a:ext cx="114078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 NF Light"/>
              </a:rPr>
              <a:t>Enemies</a:t>
            </a:r>
          </a:p>
        </p:txBody>
      </p:sp>
      <p:sp>
        <p:nvSpPr>
          <p:cNvPr id="165" name="Shape 105"/>
          <p:cNvSpPr/>
          <p:nvPr/>
        </p:nvSpPr>
        <p:spPr>
          <a:xfrm>
            <a:off x="396000" y="1304999"/>
            <a:ext cx="9288000" cy="3298351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6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public void </a:t>
            </a:r>
            <a:r>
              <a:rPr lang="en-GB" sz="160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moveTo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16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targetX, </a:t>
            </a:r>
            <a:r>
              <a:rPr lang="en-GB" sz="16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targetY) {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GB" sz="16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	double 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dx = targetX - </a:t>
            </a:r>
            <a:r>
              <a:rPr lang="en-GB" sz="16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realPosX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600"/>
            </a:b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	</a:t>
            </a:r>
            <a:r>
              <a:rPr lang="en-GB" sz="16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dy = targetY - </a:t>
            </a:r>
            <a:r>
              <a:rPr lang="en-GB" sz="16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realPosY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600"/>
            </a:br>
            <a:br>
              <a:rPr sz="1600"/>
            </a:b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	</a:t>
            </a:r>
            <a:r>
              <a:rPr lang="en-GB" sz="16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if 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(Math.</a:t>
            </a:r>
            <a:r>
              <a:rPr lang="en-GB" sz="160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abs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(dx) &gt; </a:t>
            </a:r>
            <a:r>
              <a:rPr lang="en-GB" sz="16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speed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600"/>
            </a:b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	</a:t>
            </a:r>
            <a:r>
              <a:rPr lang="en-GB" sz="16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realPosX 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+= </a:t>
            </a:r>
            <a:r>
              <a:rPr lang="en-GB" sz="16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speed 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* Math.</a:t>
            </a:r>
            <a:r>
              <a:rPr lang="en-GB" sz="160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signum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(dx);</a:t>
            </a:r>
            <a:br>
              <a:rPr sz="1600"/>
            </a:b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	} </a:t>
            </a:r>
            <a:r>
              <a:rPr lang="en-GB" sz="16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else if 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(Math.</a:t>
            </a:r>
            <a:r>
              <a:rPr lang="en-GB" sz="160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abs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(dy) &gt; </a:t>
            </a:r>
            <a:r>
              <a:rPr lang="en-GB" sz="16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speed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600"/>
            </a:b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	</a:t>
            </a:r>
            <a:r>
              <a:rPr lang="en-GB" sz="16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realPosY 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+= </a:t>
            </a:r>
            <a:r>
              <a:rPr lang="en-GB" sz="16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speed 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* Math.</a:t>
            </a:r>
            <a:r>
              <a:rPr lang="en-GB" sz="160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signum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(dy);</a:t>
            </a:r>
            <a:br>
              <a:rPr sz="1600"/>
            </a:b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	} </a:t>
            </a:r>
            <a:r>
              <a:rPr lang="en-GB" sz="16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else 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600"/>
            </a:b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	</a:t>
            </a:r>
            <a:r>
              <a:rPr lang="en-GB" sz="16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realPosX 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= targetX;</a:t>
            </a:r>
            <a:br>
              <a:rPr sz="1600"/>
            </a:b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	</a:t>
            </a:r>
            <a:r>
              <a:rPr lang="en-GB" sz="16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realPosY 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= targetY;</a:t>
            </a:r>
            <a:br>
              <a:rPr sz="1600"/>
            </a:b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	}</a:t>
            </a:r>
            <a:br>
              <a:rPr sz="1600"/>
            </a:b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	setLocation((</a:t>
            </a:r>
            <a:r>
              <a:rPr lang="en-GB" sz="16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 Math.</a:t>
            </a:r>
            <a:r>
              <a:rPr lang="en-GB" sz="160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round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16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realPosX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), (</a:t>
            </a:r>
            <a:r>
              <a:rPr lang="en-GB" sz="16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 Math.</a:t>
            </a:r>
            <a:r>
              <a:rPr lang="en-GB" sz="160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round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16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realPosY</a:t>
            </a:r>
            <a:r>
              <a:rPr lang="en-GB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));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CFA2A71-D130-868A-CCE5-ABFE619410C5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06"/>
          <p:cNvSpPr/>
          <p:nvPr/>
        </p:nvSpPr>
        <p:spPr>
          <a:xfrm>
            <a:off x="4545342" y="0"/>
            <a:ext cx="989315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 NF Light"/>
              </a:rPr>
              <a:t>Enemies</a:t>
            </a:r>
          </a:p>
        </p:txBody>
      </p:sp>
      <p:sp>
        <p:nvSpPr>
          <p:cNvPr id="167" name="Shape 107"/>
          <p:cNvSpPr/>
          <p:nvPr/>
        </p:nvSpPr>
        <p:spPr>
          <a:xfrm>
            <a:off x="1080000" y="1800000"/>
            <a:ext cx="7920000" cy="30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public void </a:t>
            </a:r>
            <a:r>
              <a:rPr lang="en-GB" sz="120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damage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double 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damage) {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if 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(getWorld() == </a:t>
            </a:r>
            <a:r>
              <a:rPr lang="en-GB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null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lang="en-GB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return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this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lang="en-GB" sz="12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lives 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= </a:t>
            </a:r>
            <a:r>
              <a:rPr lang="en-GB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this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lang="en-GB" sz="12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lives 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- damage;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if 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12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lives 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&lt;= </a:t>
            </a:r>
            <a:r>
              <a:rPr lang="en-GB" sz="12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List&lt;Player&gt; player = getWorld().getObjects(Player.</a:t>
            </a:r>
            <a:r>
              <a:rPr lang="en-GB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class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Player player1 = player.get(</a:t>
            </a:r>
            <a:r>
              <a:rPr lang="en-GB" sz="12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player1.setCoins(player1.getCoins() + (getInitialLives()));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getWorld().removeObject(</a:t>
            </a:r>
            <a:r>
              <a:rPr lang="en-GB" sz="12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this</a:t>
            </a: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1200"/>
            </a:br>
            <a:r>
              <a:rPr lang="en-GB" sz="12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feld 167"/>
          <p:cNvSpPr txBox="1"/>
          <p:nvPr/>
        </p:nvSpPr>
        <p:spPr>
          <a:xfrm>
            <a:off x="1147680" y="1567800"/>
            <a:ext cx="83232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en-GB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Enemy.java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64D81A4-2AF4-FBA8-9630-C7DFD2CBCA71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33"/>
          <p:cNvSpPr/>
          <p:nvPr/>
        </p:nvSpPr>
        <p:spPr>
          <a:xfrm>
            <a:off x="3420000" y="18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NL NFM Light"/>
              </a:rPr>
              <a:t> Spieler wählt Map aus</a:t>
            </a:r>
          </a:p>
        </p:txBody>
      </p:sp>
      <p:sp>
        <p:nvSpPr>
          <p:cNvPr id="170" name="Shape 35"/>
          <p:cNvSpPr/>
          <p:nvPr/>
        </p:nvSpPr>
        <p:spPr>
          <a:xfrm>
            <a:off x="2340000" y="900000"/>
            <a:ext cx="540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Map holt sich Enemies vom WaveManager</a:t>
            </a:r>
          </a:p>
        </p:txBody>
      </p:sp>
      <p:sp>
        <p:nvSpPr>
          <p:cNvPr id="171" name="Shape 36"/>
          <p:cNvSpPr/>
          <p:nvPr/>
        </p:nvSpPr>
        <p:spPr>
          <a:xfrm>
            <a:off x="3420000" y="180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1260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Map spawnt die Enemies</a:t>
            </a:r>
          </a:p>
        </p:txBody>
      </p:sp>
      <p:sp>
        <p:nvSpPr>
          <p:cNvPr id="172" name="Shape 37"/>
          <p:cNvSpPr/>
          <p:nvPr/>
        </p:nvSpPr>
        <p:spPr>
          <a:xfrm>
            <a:off x="3420000" y="270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Spieler kauft Towers</a:t>
            </a:r>
          </a:p>
        </p:txBody>
      </p:sp>
      <p:sp>
        <p:nvSpPr>
          <p:cNvPr id="173" name="Shape 38"/>
          <p:cNvSpPr/>
          <p:nvPr/>
        </p:nvSpPr>
        <p:spPr>
          <a:xfrm>
            <a:off x="3420000" y="3780000"/>
            <a:ext cx="342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Tower visiert Enemy an</a:t>
            </a:r>
          </a:p>
        </p:txBody>
      </p:sp>
      <p:sp>
        <p:nvSpPr>
          <p:cNvPr id="174" name="Shape 39"/>
          <p:cNvSpPr/>
          <p:nvPr/>
        </p:nvSpPr>
        <p:spPr>
          <a:xfrm>
            <a:off x="3060000" y="4860000"/>
            <a:ext cx="396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 NF Light"/>
              </a:rPr>
              <a:t> Tower </a:t>
            </a:r>
            <a:r>
              <a:rPr lang="en-GB" sz="1800" b="0" u="none" strike="noStrike" dirty="0" err="1">
                <a:solidFill>
                  <a:srgbClr val="FFFFFF"/>
                </a:solidFill>
                <a:effectLst/>
                <a:uFillTx/>
                <a:latin typeface="JetBrainsMono NF Light"/>
              </a:rPr>
              <a:t>schießt</a:t>
            </a:r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 NF Light"/>
              </a:rPr>
              <a:t> </a:t>
            </a:r>
            <a:r>
              <a:rPr lang="en-GB" dirty="0" err="1">
                <a:solidFill>
                  <a:srgbClr val="FFFFFF"/>
                </a:solidFill>
                <a:latin typeface="JetBrainsMono NF Light"/>
              </a:rPr>
              <a:t>Projektile</a:t>
            </a:r>
            <a:endParaRPr lang="en-GB" sz="1800" b="0" u="none" strike="noStrike" dirty="0">
              <a:solidFill>
                <a:srgbClr val="FFFFFF"/>
              </a:solidFill>
              <a:effectLst/>
              <a:uFillTx/>
              <a:latin typeface="JetBrainsMono NF Light"/>
            </a:endParaRPr>
          </a:p>
        </p:txBody>
      </p:sp>
      <p:sp>
        <p:nvSpPr>
          <p:cNvPr id="175" name="Gerader Verbinder 174"/>
          <p:cNvSpPr/>
          <p:nvPr/>
        </p:nvSpPr>
        <p:spPr>
          <a:xfrm>
            <a:off x="5040000" y="540000"/>
            <a:ext cx="0" cy="36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erader Verbinder 175"/>
          <p:cNvSpPr/>
          <p:nvPr/>
        </p:nvSpPr>
        <p:spPr>
          <a:xfrm>
            <a:off x="5040000" y="1260000"/>
            <a:ext cx="0" cy="54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Gerader Verbinder 176"/>
          <p:cNvSpPr/>
          <p:nvPr/>
        </p:nvSpPr>
        <p:spPr>
          <a:xfrm>
            <a:off x="5040000" y="2160000"/>
            <a:ext cx="0" cy="54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Gerader Verbinder 177"/>
          <p:cNvSpPr/>
          <p:nvPr/>
        </p:nvSpPr>
        <p:spPr>
          <a:xfrm>
            <a:off x="5040000" y="3060000"/>
            <a:ext cx="0" cy="72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Gerader Verbinder 178"/>
          <p:cNvSpPr/>
          <p:nvPr/>
        </p:nvSpPr>
        <p:spPr>
          <a:xfrm>
            <a:off x="5040000" y="4140000"/>
            <a:ext cx="0" cy="72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93EC7F7-344A-97C6-2D46-EAEFCB61B5A2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"/>
          <p:cNvSpPr/>
          <p:nvPr/>
        </p:nvSpPr>
        <p:spPr>
          <a:xfrm>
            <a:off x="3420000" y="18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NL NFM Light"/>
              </a:rPr>
              <a:t> Spieler wählt Map aus</a:t>
            </a:r>
          </a:p>
        </p:txBody>
      </p:sp>
      <p:sp>
        <p:nvSpPr>
          <p:cNvPr id="181" name="Shape 19"/>
          <p:cNvSpPr/>
          <p:nvPr/>
        </p:nvSpPr>
        <p:spPr>
          <a:xfrm>
            <a:off x="2340000" y="900000"/>
            <a:ext cx="540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Map holt sich Enemies vom WaveManager</a:t>
            </a:r>
          </a:p>
        </p:txBody>
      </p:sp>
      <p:sp>
        <p:nvSpPr>
          <p:cNvPr id="182" name="Shape 21"/>
          <p:cNvSpPr/>
          <p:nvPr/>
        </p:nvSpPr>
        <p:spPr>
          <a:xfrm>
            <a:off x="3420000" y="180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Map spawnt die Enemies</a:t>
            </a:r>
          </a:p>
        </p:txBody>
      </p:sp>
      <p:sp>
        <p:nvSpPr>
          <p:cNvPr id="183" name="Shape 22"/>
          <p:cNvSpPr/>
          <p:nvPr/>
        </p:nvSpPr>
        <p:spPr>
          <a:xfrm>
            <a:off x="3420000" y="270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1260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Spieler kauft Towers</a:t>
            </a:r>
          </a:p>
        </p:txBody>
      </p:sp>
      <p:sp>
        <p:nvSpPr>
          <p:cNvPr id="184" name="Shape 23"/>
          <p:cNvSpPr/>
          <p:nvPr/>
        </p:nvSpPr>
        <p:spPr>
          <a:xfrm>
            <a:off x="3420000" y="3780000"/>
            <a:ext cx="342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Tower visiert Enemy an</a:t>
            </a:r>
          </a:p>
        </p:txBody>
      </p:sp>
      <p:sp>
        <p:nvSpPr>
          <p:cNvPr id="185" name="Shape 24"/>
          <p:cNvSpPr/>
          <p:nvPr/>
        </p:nvSpPr>
        <p:spPr>
          <a:xfrm>
            <a:off x="3060000" y="4860000"/>
            <a:ext cx="396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 NF Light"/>
              </a:rPr>
              <a:t> Tower </a:t>
            </a:r>
            <a:r>
              <a:rPr lang="en-GB" sz="1800" b="0" u="none" strike="noStrike" dirty="0" err="1">
                <a:solidFill>
                  <a:srgbClr val="FFFFFF"/>
                </a:solidFill>
                <a:effectLst/>
                <a:uFillTx/>
                <a:latin typeface="JetBrainsMono NF Light"/>
              </a:rPr>
              <a:t>schießt</a:t>
            </a:r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 NF Light"/>
              </a:rPr>
              <a:t> </a:t>
            </a:r>
            <a:r>
              <a:rPr lang="en-GB" dirty="0" err="1">
                <a:solidFill>
                  <a:srgbClr val="FFFFFF"/>
                </a:solidFill>
                <a:latin typeface="JetBrainsMono NF Light"/>
              </a:rPr>
              <a:t>Projektile</a:t>
            </a:r>
            <a:endParaRPr lang="en-GB" sz="1800" b="0" u="none" strike="noStrike" dirty="0">
              <a:solidFill>
                <a:srgbClr val="FFFFFF"/>
              </a:solidFill>
              <a:effectLst/>
              <a:uFillTx/>
              <a:latin typeface="JetBrainsMono NF Light"/>
            </a:endParaRPr>
          </a:p>
        </p:txBody>
      </p:sp>
      <p:sp>
        <p:nvSpPr>
          <p:cNvPr id="186" name="Gerader Verbinder 185"/>
          <p:cNvSpPr/>
          <p:nvPr/>
        </p:nvSpPr>
        <p:spPr>
          <a:xfrm>
            <a:off x="5040000" y="540000"/>
            <a:ext cx="0" cy="36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Gerader Verbinder 186"/>
          <p:cNvSpPr/>
          <p:nvPr/>
        </p:nvSpPr>
        <p:spPr>
          <a:xfrm>
            <a:off x="5040000" y="1260000"/>
            <a:ext cx="0" cy="54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Gerader Verbinder 187"/>
          <p:cNvSpPr/>
          <p:nvPr/>
        </p:nvSpPr>
        <p:spPr>
          <a:xfrm>
            <a:off x="5040000" y="2160000"/>
            <a:ext cx="0" cy="54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Gerader Verbinder 188"/>
          <p:cNvSpPr/>
          <p:nvPr/>
        </p:nvSpPr>
        <p:spPr>
          <a:xfrm>
            <a:off x="5040000" y="3060000"/>
            <a:ext cx="0" cy="72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erader Verbinder 189"/>
          <p:cNvSpPr/>
          <p:nvPr/>
        </p:nvSpPr>
        <p:spPr>
          <a:xfrm>
            <a:off x="5040000" y="4140000"/>
            <a:ext cx="0" cy="72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6230DEF-0B73-E971-7CFD-824E0D58A452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46"/>
          <p:cNvSpPr/>
          <p:nvPr/>
        </p:nvSpPr>
        <p:spPr>
          <a:xfrm>
            <a:off x="3348000" y="0"/>
            <a:ext cx="3240000" cy="5670000"/>
          </a:xfrm>
          <a:prstGeom prst="roundRect">
            <a:avLst>
              <a:gd name="adj" fmla="val 3031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4"/>
          <p:cNvSpPr/>
          <p:nvPr/>
        </p:nvSpPr>
        <p:spPr>
          <a:xfrm>
            <a:off x="180000" y="18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Spieler kauft Towers</a:t>
            </a:r>
          </a:p>
        </p:txBody>
      </p:sp>
      <p:grpSp>
        <p:nvGrpSpPr>
          <p:cNvPr id="193" name="Gruppieren 192"/>
          <p:cNvGrpSpPr/>
          <p:nvPr/>
        </p:nvGrpSpPr>
        <p:grpSpPr>
          <a:xfrm>
            <a:off x="3960000" y="189000"/>
            <a:ext cx="2030400" cy="5292000"/>
            <a:chOff x="3960000" y="189000"/>
            <a:chExt cx="2030400" cy="5292000"/>
          </a:xfrm>
        </p:grpSpPr>
        <p:sp>
          <p:nvSpPr>
            <p:cNvPr id="194" name="Shape 31"/>
            <p:cNvSpPr/>
            <p:nvPr/>
          </p:nvSpPr>
          <p:spPr>
            <a:xfrm>
              <a:off x="3960000" y="189000"/>
              <a:ext cx="2030400" cy="5292000"/>
            </a:xfrm>
            <a:prstGeom prst="roundRect">
              <a:avLst>
                <a:gd name="adj" fmla="val 1778"/>
              </a:avLst>
            </a:prstGeom>
            <a:solidFill>
              <a:srgbClr val="12162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95" name="Grafik 194"/>
            <p:cNvPicPr/>
            <p:nvPr/>
          </p:nvPicPr>
          <p:blipFill>
            <a:blip r:embed="rId2"/>
            <a:stretch/>
          </p:blipFill>
          <p:spPr>
            <a:xfrm>
              <a:off x="4114440" y="272880"/>
              <a:ext cx="1754280" cy="5124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2103AE1-A9F3-28A8-707E-1F15C92AA865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47"/>
          <p:cNvSpPr/>
          <p:nvPr/>
        </p:nvSpPr>
        <p:spPr>
          <a:xfrm>
            <a:off x="6480000" y="0"/>
            <a:ext cx="3240000" cy="5670000"/>
          </a:xfrm>
          <a:prstGeom prst="roundRect">
            <a:avLst>
              <a:gd name="adj" fmla="val 3031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48"/>
          <p:cNvSpPr/>
          <p:nvPr/>
        </p:nvSpPr>
        <p:spPr>
          <a:xfrm>
            <a:off x="2520000" y="18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Spieler kauft Towers</a:t>
            </a:r>
          </a:p>
        </p:txBody>
      </p:sp>
      <p:sp>
        <p:nvSpPr>
          <p:cNvPr id="198" name="Shape 31"/>
          <p:cNvSpPr/>
          <p:nvPr/>
        </p:nvSpPr>
        <p:spPr>
          <a:xfrm>
            <a:off x="7509600" y="288000"/>
            <a:ext cx="2030400" cy="5292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9" name="Grafik 198"/>
          <p:cNvPicPr/>
          <p:nvPr/>
        </p:nvPicPr>
        <p:blipFill>
          <a:blip r:embed="rId2"/>
          <a:stretch/>
        </p:blipFill>
        <p:spPr>
          <a:xfrm>
            <a:off x="7245720" y="360000"/>
            <a:ext cx="1754280" cy="512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Shape 124"/>
          <p:cNvSpPr/>
          <p:nvPr/>
        </p:nvSpPr>
        <p:spPr>
          <a:xfrm>
            <a:off x="360000" y="900000"/>
            <a:ext cx="3060000" cy="720000"/>
          </a:xfrm>
          <a:prstGeom prst="roundRect">
            <a:avLst>
              <a:gd name="adj" fmla="val 3031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2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- updatePrice-Funktion</a:t>
            </a:r>
          </a:p>
        </p:txBody>
      </p:sp>
      <p:sp>
        <p:nvSpPr>
          <p:cNvPr id="201" name="Shape 125"/>
          <p:cNvSpPr/>
          <p:nvPr/>
        </p:nvSpPr>
        <p:spPr>
          <a:xfrm>
            <a:off x="360000" y="2340000"/>
            <a:ext cx="3060000" cy="720000"/>
          </a:xfrm>
          <a:prstGeom prst="roundRect">
            <a:avLst>
              <a:gd name="adj" fmla="val 3031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2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- onClick-</a:t>
            </a:r>
          </a:p>
          <a:p>
            <a:r>
              <a:rPr lang="en-GB" sz="2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Funktion</a:t>
            </a:r>
          </a:p>
        </p:txBody>
      </p:sp>
      <p:sp>
        <p:nvSpPr>
          <p:cNvPr id="202" name="Shape 126"/>
          <p:cNvSpPr/>
          <p:nvPr/>
        </p:nvSpPr>
        <p:spPr>
          <a:xfrm>
            <a:off x="360000" y="3780000"/>
            <a:ext cx="3060000" cy="720000"/>
          </a:xfrm>
          <a:prstGeom prst="roundRect">
            <a:avLst>
              <a:gd name="adj" fmla="val 3031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2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- Interface:</a:t>
            </a:r>
            <a:br>
              <a:rPr sz="2300"/>
            </a:br>
            <a:r>
              <a:rPr lang="en-GB" sz="2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Clickable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932B421-2674-33E8-B29F-68B24B53CCC5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73"/>
          <p:cNvSpPr/>
          <p:nvPr/>
        </p:nvSpPr>
        <p:spPr>
          <a:xfrm>
            <a:off x="3960000" y="180000"/>
            <a:ext cx="270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120" tIns="51120" rIns="96120" bIns="5112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Towers platzieren</a:t>
            </a:r>
          </a:p>
        </p:txBody>
      </p:sp>
      <p:grpSp>
        <p:nvGrpSpPr>
          <p:cNvPr id="204" name="Gruppieren 203"/>
          <p:cNvGrpSpPr/>
          <p:nvPr/>
        </p:nvGrpSpPr>
        <p:grpSpPr>
          <a:xfrm>
            <a:off x="5130000" y="1080000"/>
            <a:ext cx="4950000" cy="3960000"/>
            <a:chOff x="5130000" y="1080000"/>
            <a:chExt cx="4950000" cy="3960000"/>
          </a:xfrm>
        </p:grpSpPr>
        <p:sp>
          <p:nvSpPr>
            <p:cNvPr id="205" name="Shape 69"/>
            <p:cNvSpPr/>
            <p:nvPr/>
          </p:nvSpPr>
          <p:spPr>
            <a:xfrm>
              <a:off x="5130000" y="1080000"/>
              <a:ext cx="4950000" cy="3960000"/>
            </a:xfrm>
            <a:prstGeom prst="roundRect">
              <a:avLst>
                <a:gd name="adj" fmla="val 3031"/>
              </a:avLst>
            </a:prstGeom>
            <a:solidFill>
              <a:srgbClr val="12162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06" name="Grafik 205"/>
            <p:cNvPicPr/>
            <p:nvPr/>
          </p:nvPicPr>
          <p:blipFill>
            <a:blip r:embed="rId2"/>
            <a:stretch/>
          </p:blipFill>
          <p:spPr>
            <a:xfrm>
              <a:off x="5275440" y="1225440"/>
              <a:ext cx="4595760" cy="36730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07" name="Gruppieren 206"/>
          <p:cNvGrpSpPr/>
          <p:nvPr/>
        </p:nvGrpSpPr>
        <p:grpSpPr>
          <a:xfrm>
            <a:off x="0" y="1080000"/>
            <a:ext cx="5130000" cy="3960000"/>
            <a:chOff x="0" y="1080000"/>
            <a:chExt cx="5130000" cy="3960000"/>
          </a:xfrm>
        </p:grpSpPr>
        <p:sp>
          <p:nvSpPr>
            <p:cNvPr id="208" name="Shape 70"/>
            <p:cNvSpPr/>
            <p:nvPr/>
          </p:nvSpPr>
          <p:spPr>
            <a:xfrm>
              <a:off x="0" y="1080000"/>
              <a:ext cx="5130000" cy="3960000"/>
            </a:xfrm>
            <a:prstGeom prst="roundRect">
              <a:avLst>
                <a:gd name="adj" fmla="val 3031"/>
              </a:avLst>
            </a:prstGeom>
            <a:solidFill>
              <a:srgbClr val="12162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09" name="Grafik 208"/>
            <p:cNvPicPr/>
            <p:nvPr/>
          </p:nvPicPr>
          <p:blipFill>
            <a:blip r:embed="rId3"/>
            <a:stretch/>
          </p:blipFill>
          <p:spPr>
            <a:xfrm>
              <a:off x="44280" y="1260000"/>
              <a:ext cx="4995720" cy="36345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4D7B7CA-030E-9642-2C31-FAFF11EF664D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73"/>
          <p:cNvSpPr/>
          <p:nvPr/>
        </p:nvSpPr>
        <p:spPr>
          <a:xfrm>
            <a:off x="3765374" y="-131380"/>
            <a:ext cx="2549876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120" tIns="51120" rIns="96120" bIns="51120" anchor="t">
            <a:noAutofit/>
          </a:bodyPr>
          <a:lstStyle/>
          <a:p>
            <a:pPr algn="ctr"/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 NF Light"/>
              </a:rPr>
              <a:t>Tower </a:t>
            </a:r>
            <a:r>
              <a:rPr lang="en-GB" sz="1800" b="0" u="none" strike="noStrike" dirty="0" err="1">
                <a:solidFill>
                  <a:srgbClr val="FFFFFF"/>
                </a:solidFill>
                <a:effectLst/>
                <a:uFillTx/>
                <a:latin typeface="JetBrainsMono NF Light"/>
              </a:rPr>
              <a:t>platzieren</a:t>
            </a:r>
            <a:endParaRPr lang="en-GB" sz="1800" b="0" u="none" strike="noStrike" dirty="0">
              <a:solidFill>
                <a:srgbClr val="FFFFFF"/>
              </a:solidFill>
              <a:effectLst/>
              <a:uFillTx/>
              <a:latin typeface="JetBrainsMono NF Light"/>
            </a:endParaRPr>
          </a:p>
        </p:txBody>
      </p:sp>
      <p:grpSp>
        <p:nvGrpSpPr>
          <p:cNvPr id="211" name="Gruppieren 210"/>
          <p:cNvGrpSpPr/>
          <p:nvPr/>
        </p:nvGrpSpPr>
        <p:grpSpPr>
          <a:xfrm>
            <a:off x="3600000" y="684000"/>
            <a:ext cx="6120000" cy="4896000"/>
            <a:chOff x="3600000" y="684000"/>
            <a:chExt cx="6120000" cy="4896000"/>
          </a:xfrm>
        </p:grpSpPr>
        <p:sp>
          <p:nvSpPr>
            <p:cNvPr id="212" name="Shape 69"/>
            <p:cNvSpPr/>
            <p:nvPr/>
          </p:nvSpPr>
          <p:spPr>
            <a:xfrm>
              <a:off x="3600000" y="684000"/>
              <a:ext cx="6120000" cy="4896000"/>
            </a:xfrm>
            <a:prstGeom prst="roundRect">
              <a:avLst>
                <a:gd name="adj" fmla="val 3031"/>
              </a:avLst>
            </a:prstGeom>
            <a:solidFill>
              <a:srgbClr val="12162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13" name="Grafik 212"/>
            <p:cNvPicPr/>
            <p:nvPr/>
          </p:nvPicPr>
          <p:blipFill>
            <a:blip r:embed="rId2"/>
            <a:stretch/>
          </p:blipFill>
          <p:spPr>
            <a:xfrm>
              <a:off x="3780000" y="864000"/>
              <a:ext cx="5681880" cy="45410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14" name="Shape 127"/>
          <p:cNvSpPr/>
          <p:nvPr/>
        </p:nvSpPr>
        <p:spPr>
          <a:xfrm>
            <a:off x="360000" y="1620000"/>
            <a:ext cx="3060000" cy="1440000"/>
          </a:xfrm>
          <a:prstGeom prst="roundRect">
            <a:avLst>
              <a:gd name="adj" fmla="val 3031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2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- onHover-</a:t>
            </a:r>
          </a:p>
          <a:p>
            <a:r>
              <a:rPr lang="en-GB" sz="2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Funktion (Clickable)</a:t>
            </a:r>
          </a:p>
          <a:p>
            <a:r>
              <a:rPr lang="en-GB" sz="2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→ Hovern macht die</a:t>
            </a:r>
          </a:p>
          <a:p>
            <a:r>
              <a:rPr lang="en-GB" sz="2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Range sichtbar</a:t>
            </a:r>
          </a:p>
        </p:txBody>
      </p:sp>
      <p:sp>
        <p:nvSpPr>
          <p:cNvPr id="215" name="Shape 128"/>
          <p:cNvSpPr/>
          <p:nvPr/>
        </p:nvSpPr>
        <p:spPr>
          <a:xfrm>
            <a:off x="360000" y="3240000"/>
            <a:ext cx="3060000" cy="1800000"/>
          </a:xfrm>
          <a:prstGeom prst="roundRect">
            <a:avLst>
              <a:gd name="adj" fmla="val 3031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2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- Cursor Klasse, die der Maus folgt, da Greenfoot die Funktionalität nicht hat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67678E8-4AED-91BC-C3D7-C40A07100515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57"/>
          <p:cNvSpPr/>
          <p:nvPr/>
        </p:nvSpPr>
        <p:spPr>
          <a:xfrm>
            <a:off x="3420000" y="18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NL NFM Light"/>
              </a:rPr>
              <a:t> Spieler wählt Map aus</a:t>
            </a:r>
          </a:p>
        </p:txBody>
      </p:sp>
      <p:sp>
        <p:nvSpPr>
          <p:cNvPr id="217" name="Shape 58"/>
          <p:cNvSpPr/>
          <p:nvPr/>
        </p:nvSpPr>
        <p:spPr>
          <a:xfrm>
            <a:off x="2340000" y="900000"/>
            <a:ext cx="540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Map holt sich Enemies vom WaveManager</a:t>
            </a:r>
          </a:p>
        </p:txBody>
      </p:sp>
      <p:sp>
        <p:nvSpPr>
          <p:cNvPr id="218" name="Shape 59"/>
          <p:cNvSpPr/>
          <p:nvPr/>
        </p:nvSpPr>
        <p:spPr>
          <a:xfrm>
            <a:off x="3420000" y="180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Map spawnt die Enemies</a:t>
            </a:r>
          </a:p>
        </p:txBody>
      </p:sp>
      <p:sp>
        <p:nvSpPr>
          <p:cNvPr id="219" name="Shape 60"/>
          <p:cNvSpPr/>
          <p:nvPr/>
        </p:nvSpPr>
        <p:spPr>
          <a:xfrm>
            <a:off x="3420000" y="270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1260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Spieler kauft Towers</a:t>
            </a:r>
          </a:p>
        </p:txBody>
      </p:sp>
      <p:sp>
        <p:nvSpPr>
          <p:cNvPr id="220" name="Shape 61"/>
          <p:cNvSpPr/>
          <p:nvPr/>
        </p:nvSpPr>
        <p:spPr>
          <a:xfrm>
            <a:off x="3420000" y="3780000"/>
            <a:ext cx="342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Tower visiert Enemy an</a:t>
            </a:r>
          </a:p>
        </p:txBody>
      </p:sp>
      <p:sp>
        <p:nvSpPr>
          <p:cNvPr id="221" name="Shape 62"/>
          <p:cNvSpPr/>
          <p:nvPr/>
        </p:nvSpPr>
        <p:spPr>
          <a:xfrm>
            <a:off x="3060000" y="4860000"/>
            <a:ext cx="396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 NF Light"/>
              </a:rPr>
              <a:t> Tower </a:t>
            </a:r>
            <a:r>
              <a:rPr lang="en-GB" sz="1800" b="0" u="none" strike="noStrike" dirty="0" err="1">
                <a:solidFill>
                  <a:srgbClr val="FFFFFF"/>
                </a:solidFill>
                <a:effectLst/>
                <a:uFillTx/>
                <a:latin typeface="JetBrainsMono NF Light"/>
              </a:rPr>
              <a:t>schießt</a:t>
            </a:r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 NF Light"/>
              </a:rPr>
              <a:t> </a:t>
            </a:r>
            <a:r>
              <a:rPr lang="en-GB" dirty="0" err="1">
                <a:solidFill>
                  <a:srgbClr val="FFFFFF"/>
                </a:solidFill>
                <a:latin typeface="JetBrainsMono NF Light"/>
              </a:rPr>
              <a:t>Projektile</a:t>
            </a:r>
            <a:endParaRPr lang="en-GB" sz="1800" b="0" u="none" strike="noStrike" dirty="0">
              <a:solidFill>
                <a:srgbClr val="FFFFFF"/>
              </a:solidFill>
              <a:effectLst/>
              <a:uFillTx/>
              <a:latin typeface="JetBrainsMono NF Light"/>
            </a:endParaRPr>
          </a:p>
        </p:txBody>
      </p:sp>
      <p:sp>
        <p:nvSpPr>
          <p:cNvPr id="222" name="Gerader Verbinder 221"/>
          <p:cNvSpPr/>
          <p:nvPr/>
        </p:nvSpPr>
        <p:spPr>
          <a:xfrm>
            <a:off x="5040000" y="540000"/>
            <a:ext cx="0" cy="36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Gerader Verbinder 222"/>
          <p:cNvSpPr/>
          <p:nvPr/>
        </p:nvSpPr>
        <p:spPr>
          <a:xfrm>
            <a:off x="5040000" y="1260000"/>
            <a:ext cx="0" cy="54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Gerader Verbinder 223"/>
          <p:cNvSpPr/>
          <p:nvPr/>
        </p:nvSpPr>
        <p:spPr>
          <a:xfrm>
            <a:off x="5040000" y="2160000"/>
            <a:ext cx="0" cy="54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Gerader Verbinder 224"/>
          <p:cNvSpPr/>
          <p:nvPr/>
        </p:nvSpPr>
        <p:spPr>
          <a:xfrm>
            <a:off x="5040000" y="3060000"/>
            <a:ext cx="0" cy="72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Gerader Verbinder 225"/>
          <p:cNvSpPr/>
          <p:nvPr/>
        </p:nvSpPr>
        <p:spPr>
          <a:xfrm>
            <a:off x="5040000" y="4140000"/>
            <a:ext cx="0" cy="72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9D753BD-FCEB-0FA5-4538-3C709E523739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63"/>
          <p:cNvSpPr/>
          <p:nvPr/>
        </p:nvSpPr>
        <p:spPr>
          <a:xfrm>
            <a:off x="3420000" y="18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NL NFM Light"/>
              </a:rPr>
              <a:t> Spieler wählt Map aus</a:t>
            </a:r>
          </a:p>
        </p:txBody>
      </p:sp>
      <p:sp>
        <p:nvSpPr>
          <p:cNvPr id="228" name="Shape 64"/>
          <p:cNvSpPr/>
          <p:nvPr/>
        </p:nvSpPr>
        <p:spPr>
          <a:xfrm>
            <a:off x="2340000" y="900000"/>
            <a:ext cx="540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Map holt sich Enemies vom WaveManager</a:t>
            </a:r>
          </a:p>
        </p:txBody>
      </p:sp>
      <p:sp>
        <p:nvSpPr>
          <p:cNvPr id="229" name="Shape 65"/>
          <p:cNvSpPr/>
          <p:nvPr/>
        </p:nvSpPr>
        <p:spPr>
          <a:xfrm>
            <a:off x="3420000" y="180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Map spawnt die Enemies</a:t>
            </a:r>
          </a:p>
        </p:txBody>
      </p:sp>
      <p:sp>
        <p:nvSpPr>
          <p:cNvPr id="230" name="Shape 66"/>
          <p:cNvSpPr/>
          <p:nvPr/>
        </p:nvSpPr>
        <p:spPr>
          <a:xfrm>
            <a:off x="3420000" y="2700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Spieler kauft Towers</a:t>
            </a:r>
          </a:p>
        </p:txBody>
      </p:sp>
      <p:sp>
        <p:nvSpPr>
          <p:cNvPr id="231" name="Shape 67"/>
          <p:cNvSpPr/>
          <p:nvPr/>
        </p:nvSpPr>
        <p:spPr>
          <a:xfrm>
            <a:off x="3420000" y="3780000"/>
            <a:ext cx="342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1260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120" tIns="51120" rIns="96120" bIns="5112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Tower visiert Enemy an</a:t>
            </a:r>
          </a:p>
        </p:txBody>
      </p:sp>
      <p:sp>
        <p:nvSpPr>
          <p:cNvPr id="232" name="Shape 68"/>
          <p:cNvSpPr/>
          <p:nvPr/>
        </p:nvSpPr>
        <p:spPr>
          <a:xfrm>
            <a:off x="3060000" y="4860000"/>
            <a:ext cx="396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 NF Light"/>
              </a:rPr>
              <a:t> Tower </a:t>
            </a:r>
            <a:r>
              <a:rPr lang="en-GB" sz="1800" b="0" u="none" strike="noStrike" dirty="0" err="1">
                <a:solidFill>
                  <a:srgbClr val="FFFFFF"/>
                </a:solidFill>
                <a:effectLst/>
                <a:uFillTx/>
                <a:latin typeface="JetBrainsMono NF Light"/>
              </a:rPr>
              <a:t>schießt</a:t>
            </a:r>
            <a:r>
              <a:rPr lang="en-GB" sz="1800" b="0" u="none" strike="noStrike" dirty="0">
                <a:solidFill>
                  <a:srgbClr val="FFFFFF"/>
                </a:solidFill>
                <a:effectLst/>
                <a:uFillTx/>
                <a:latin typeface="JetBrainsMono NF Light"/>
              </a:rPr>
              <a:t> </a:t>
            </a:r>
            <a:r>
              <a:rPr lang="en-GB" sz="1800" b="0" u="none" strike="noStrike" dirty="0" err="1">
                <a:solidFill>
                  <a:srgbClr val="FFFFFF"/>
                </a:solidFill>
                <a:effectLst/>
                <a:uFillTx/>
                <a:latin typeface="JetBrainsMono NF Light"/>
              </a:rPr>
              <a:t>Projektile</a:t>
            </a:r>
            <a:endParaRPr lang="en-GB" sz="1800" b="0" u="none" strike="noStrike" dirty="0">
              <a:solidFill>
                <a:srgbClr val="FFFFFF"/>
              </a:solidFill>
              <a:effectLst/>
              <a:uFillTx/>
              <a:latin typeface="JetBrainsMono NF Light"/>
            </a:endParaRPr>
          </a:p>
        </p:txBody>
      </p:sp>
      <p:sp>
        <p:nvSpPr>
          <p:cNvPr id="233" name="Gerader Verbinder 232"/>
          <p:cNvSpPr/>
          <p:nvPr/>
        </p:nvSpPr>
        <p:spPr>
          <a:xfrm>
            <a:off x="5040000" y="540000"/>
            <a:ext cx="0" cy="36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Gerader Verbinder 233"/>
          <p:cNvSpPr/>
          <p:nvPr/>
        </p:nvSpPr>
        <p:spPr>
          <a:xfrm>
            <a:off x="5040000" y="1260000"/>
            <a:ext cx="0" cy="54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Gerader Verbinder 234"/>
          <p:cNvSpPr/>
          <p:nvPr/>
        </p:nvSpPr>
        <p:spPr>
          <a:xfrm>
            <a:off x="5040000" y="2160000"/>
            <a:ext cx="0" cy="54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Gerader Verbinder 235"/>
          <p:cNvSpPr/>
          <p:nvPr/>
        </p:nvSpPr>
        <p:spPr>
          <a:xfrm>
            <a:off x="5040000" y="3060000"/>
            <a:ext cx="0" cy="72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Gerader Verbinder 236"/>
          <p:cNvSpPr/>
          <p:nvPr/>
        </p:nvSpPr>
        <p:spPr>
          <a:xfrm>
            <a:off x="5040000" y="4140000"/>
            <a:ext cx="0" cy="720000"/>
          </a:xfrm>
          <a:prstGeom prst="line">
            <a:avLst/>
          </a:prstGeom>
          <a:ln w="0">
            <a:solidFill>
              <a:srgbClr val="FFFF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71D1FC5-C61A-3AFE-894D-BC7F7A7EC7F9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92"/>
          <p:cNvSpPr/>
          <p:nvPr/>
        </p:nvSpPr>
        <p:spPr>
          <a:xfrm>
            <a:off x="3420000" y="180000"/>
            <a:ext cx="342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120" tIns="51120" rIns="96120" bIns="5112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Tower visiert Enemy an</a:t>
            </a:r>
          </a:p>
        </p:txBody>
      </p:sp>
      <p:sp>
        <p:nvSpPr>
          <p:cNvPr id="239" name="Shape 93"/>
          <p:cNvSpPr/>
          <p:nvPr/>
        </p:nvSpPr>
        <p:spPr>
          <a:xfrm>
            <a:off x="180000" y="1620000"/>
            <a:ext cx="3744000" cy="252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050" b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projectileToShoot: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Ein Projektil-Prefab, welches kopiert wird wenn ein Projektil gespawnt wird.</a:t>
            </a:r>
            <a:endParaRPr lang="en-GB" sz="105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GB" sz="105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GB" sz="1050" b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hitEnemies: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eine HashMap mit allen getroffenen Enemies als Key und einem counter als Value → Counter zählt frames bis ein enemy wieder gehittet werden kann.</a:t>
            </a:r>
            <a:endParaRPr lang="en-GB" sz="105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GB" sz="105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GB" sz="1050" b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owner: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der owner von einem Projektil</a:t>
            </a:r>
            <a:endParaRPr lang="en-GB" sz="105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→ Projektil kopiert sich stats wie Schaden, Speed etc. </a:t>
            </a:r>
            <a:endParaRPr lang="en-GB" sz="105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GB" sz="105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GB" sz="1050" b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targetedEnemy: </a:t>
            </a:r>
            <a:r>
              <a:rPr lang="en-GB" sz="10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der vom Tower anvisierte Gegner.</a:t>
            </a:r>
            <a:endParaRPr lang="en-GB" sz="105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0" name="Grafik 239"/>
          <p:cNvPicPr/>
          <p:nvPr/>
        </p:nvPicPr>
        <p:blipFill>
          <a:blip r:embed="rId2"/>
          <a:stretch/>
        </p:blipFill>
        <p:spPr>
          <a:xfrm>
            <a:off x="4332240" y="900000"/>
            <a:ext cx="5387760" cy="405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56C31DB-A023-3FDA-6A65-E6E05BEF1DBD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54"/>
          <p:cNvSpPr/>
          <p:nvPr/>
        </p:nvSpPr>
        <p:spPr>
          <a:xfrm>
            <a:off x="810000" y="1845000"/>
            <a:ext cx="8460000" cy="1035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3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if </a:t>
            </a: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13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isMultiplayer </a:t>
            </a: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&amp;&amp; NetworkManager.</a:t>
            </a:r>
            <a:r>
              <a:rPr lang="en-GB" sz="130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getInstance</a:t>
            </a: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().isHost()) {</a:t>
            </a:r>
            <a:br>
              <a:rPr sz="1300"/>
            </a:b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String msg = </a:t>
            </a:r>
            <a:r>
              <a:rPr lang="en-GB" sz="1300" b="0" u="none" strike="noStrike">
                <a:solidFill>
                  <a:srgbClr val="6AAB73"/>
                </a:solidFill>
                <a:effectLst/>
                <a:uFillTx/>
                <a:latin typeface="JetBrains Mono"/>
                <a:ea typeface="JetBrains Mono"/>
              </a:rPr>
              <a:t>"SPAWN_ENEMY" </a:t>
            </a: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lang="en-GB" sz="1300" b="0" u="none" strike="noStrike">
                <a:solidFill>
                  <a:srgbClr val="6AAB73"/>
                </a:solidFill>
                <a:effectLst/>
                <a:uFillTx/>
                <a:latin typeface="JetBrains Mono"/>
                <a:ea typeface="JetBrains Mono"/>
              </a:rPr>
              <a:t>"," </a:t>
            </a: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+ enemy.getName() + </a:t>
            </a:r>
            <a:r>
              <a:rPr lang="en-GB" sz="1300" b="0" u="none" strike="noStrike">
                <a:solidFill>
                  <a:srgbClr val="6AAB73"/>
                </a:solidFill>
                <a:effectLst/>
                <a:uFillTx/>
                <a:latin typeface="JetBrains Mono"/>
                <a:ea typeface="JetBrains Mono"/>
              </a:rPr>
              <a:t>"," </a:t>
            </a: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+ enemy.getUniqueId();</a:t>
            </a:r>
            <a:br>
              <a:rPr sz="1300"/>
            </a:b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NetworkManager.</a:t>
            </a:r>
            <a:r>
              <a:rPr lang="en-GB" sz="130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getInstance</a:t>
            </a: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().sendData(msg);</a:t>
            </a:r>
            <a:br>
              <a:rPr sz="1300"/>
            </a:b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55"/>
          <p:cNvSpPr/>
          <p:nvPr/>
        </p:nvSpPr>
        <p:spPr>
          <a:xfrm>
            <a:off x="3960000" y="72000"/>
            <a:ext cx="180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Multiplayer</a:t>
            </a:r>
          </a:p>
        </p:txBody>
      </p:sp>
      <p:sp>
        <p:nvSpPr>
          <p:cNvPr id="243" name="Shape 56"/>
          <p:cNvSpPr/>
          <p:nvPr/>
        </p:nvSpPr>
        <p:spPr>
          <a:xfrm>
            <a:off x="810000" y="3645000"/>
            <a:ext cx="8460000" cy="1035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3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if </a:t>
            </a: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13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isMultiplayer </a:t>
            </a: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&amp;&amp; NetworkManager.</a:t>
            </a:r>
            <a:r>
              <a:rPr lang="en-GB" sz="130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getInstance</a:t>
            </a: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().isHost()) {</a:t>
            </a:r>
            <a:br>
              <a:rPr sz="1300"/>
            </a:b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String msg = </a:t>
            </a:r>
            <a:r>
              <a:rPr lang="en-GB" sz="1300" b="0" u="none" strike="noStrike">
                <a:solidFill>
                  <a:srgbClr val="6AAB73"/>
                </a:solidFill>
                <a:effectLst/>
                <a:uFillTx/>
                <a:latin typeface="JetBrains Mono"/>
                <a:ea typeface="JetBrains Mono"/>
              </a:rPr>
              <a:t>"COMMAND" </a:t>
            </a: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+ </a:t>
            </a:r>
            <a:r>
              <a:rPr lang="en-GB" sz="1300" b="0" u="none" strike="noStrike">
                <a:solidFill>
                  <a:srgbClr val="6AAB73"/>
                </a:solidFill>
                <a:effectLst/>
                <a:uFillTx/>
                <a:latin typeface="JetBrains Mono"/>
                <a:ea typeface="JetBrains Mono"/>
              </a:rPr>
              <a:t>"," </a:t>
            </a: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+ argument + </a:t>
            </a:r>
            <a:r>
              <a:rPr lang="en-GB" sz="1300" b="0" u="none" strike="noStrike">
                <a:solidFill>
                  <a:srgbClr val="6AAB73"/>
                </a:solidFill>
                <a:effectLst/>
                <a:uFillTx/>
                <a:latin typeface="JetBrains Mono"/>
                <a:ea typeface="JetBrains Mono"/>
              </a:rPr>
              <a:t>"," </a:t>
            </a: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+ argument + ...;</a:t>
            </a:r>
            <a:br>
              <a:rPr sz="1300"/>
            </a:b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NetworkManager.</a:t>
            </a:r>
            <a:r>
              <a:rPr lang="en-GB" sz="130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getInstance</a:t>
            </a: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().sendData(msg);</a:t>
            </a:r>
            <a:br>
              <a:rPr sz="1300"/>
            </a:b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feld 243"/>
          <p:cNvSpPr txBox="1"/>
          <p:nvPr/>
        </p:nvSpPr>
        <p:spPr>
          <a:xfrm>
            <a:off x="761400" y="1612800"/>
            <a:ext cx="103860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en-GB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GameMap.java</a:t>
            </a:r>
          </a:p>
        </p:txBody>
      </p:sp>
      <p:sp>
        <p:nvSpPr>
          <p:cNvPr id="245" name="Textfeld 244"/>
          <p:cNvSpPr txBox="1"/>
          <p:nvPr/>
        </p:nvSpPr>
        <p:spPr>
          <a:xfrm>
            <a:off x="810000" y="3412800"/>
            <a:ext cx="103140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en-GB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Bzw. Allgemein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E48EE9F-6F36-F648-2227-B7815374F9EF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116"/>
          <p:cNvSpPr/>
          <p:nvPr/>
        </p:nvSpPr>
        <p:spPr>
          <a:xfrm>
            <a:off x="3960000" y="72000"/>
            <a:ext cx="180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Multiplayer</a:t>
            </a:r>
          </a:p>
        </p:txBody>
      </p:sp>
      <p:sp>
        <p:nvSpPr>
          <p:cNvPr id="247" name="Shape 115"/>
          <p:cNvSpPr/>
          <p:nvPr/>
        </p:nvSpPr>
        <p:spPr>
          <a:xfrm>
            <a:off x="2700000" y="540000"/>
            <a:ext cx="4320000" cy="54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String[] tokens = command.split(</a:t>
            </a:r>
            <a:r>
              <a:rPr lang="en-GB" sz="1350" b="0" u="none" strike="noStrike">
                <a:solidFill>
                  <a:srgbClr val="6AAB73"/>
                </a:solidFill>
                <a:effectLst/>
                <a:uFillTx/>
                <a:latin typeface="JetBrains Mono"/>
                <a:ea typeface="JetBrains Mono"/>
              </a:rPr>
              <a:t>","</a:t>
            </a: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350"/>
            </a:b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String action = tokens[</a:t>
            </a:r>
            <a:r>
              <a:rPr lang="en-GB" sz="13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];</a:t>
            </a:r>
            <a:endParaRPr lang="en-GB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17"/>
          <p:cNvSpPr/>
          <p:nvPr/>
        </p:nvSpPr>
        <p:spPr>
          <a:xfrm>
            <a:off x="180000" y="1260000"/>
            <a:ext cx="4500000" cy="198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3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case </a:t>
            </a:r>
            <a:r>
              <a:rPr lang="en-GB" sz="1350" b="0" u="none" strike="noStrike">
                <a:solidFill>
                  <a:srgbClr val="6AAB73"/>
                </a:solidFill>
                <a:effectLst/>
                <a:uFillTx/>
                <a:latin typeface="JetBrains Mono"/>
                <a:ea typeface="JetBrains Mono"/>
              </a:rPr>
              <a:t>"SPAWN_TOWER"</a:t>
            </a: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: {</a:t>
            </a:r>
            <a:br>
              <a:rPr sz="1350"/>
            </a:b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String towerType = tokens[</a:t>
            </a:r>
            <a:r>
              <a:rPr lang="en-GB" sz="13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];</a:t>
            </a:r>
            <a:br>
              <a:rPr sz="1350"/>
            </a:b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String uniqueId = tokens[</a:t>
            </a:r>
            <a:r>
              <a:rPr lang="en-GB" sz="13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];</a:t>
            </a:r>
            <a:br>
              <a:rPr sz="1350"/>
            </a:b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3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x = Integer.</a:t>
            </a:r>
            <a:r>
              <a:rPr lang="en-GB" sz="135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parseInt</a:t>
            </a: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(tokens[</a:t>
            </a:r>
            <a:r>
              <a:rPr lang="en-GB" sz="13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]);</a:t>
            </a:r>
            <a:br>
              <a:rPr sz="1350"/>
            </a:b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3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y = Integer.</a:t>
            </a:r>
            <a:r>
              <a:rPr lang="en-GB" sz="135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parseInt</a:t>
            </a: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(tokens[</a:t>
            </a:r>
            <a:r>
              <a:rPr lang="en-GB" sz="13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]);</a:t>
            </a:r>
            <a:br>
              <a:rPr sz="1350"/>
            </a:b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spawnTowerFromNetwork(towerType, uniqueId, x, y);</a:t>
            </a:r>
            <a:br>
              <a:rPr sz="1350"/>
            </a:b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3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break</a:t>
            </a: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350"/>
            </a:b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lang="en-GB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18"/>
          <p:cNvSpPr/>
          <p:nvPr/>
        </p:nvSpPr>
        <p:spPr>
          <a:xfrm>
            <a:off x="180000" y="3420000"/>
            <a:ext cx="4500000" cy="21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3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case </a:t>
            </a:r>
            <a:r>
              <a:rPr lang="en-GB" sz="1300" b="0" u="none" strike="noStrike">
                <a:solidFill>
                  <a:srgbClr val="6AAB73"/>
                </a:solidFill>
                <a:effectLst/>
                <a:uFillTx/>
                <a:latin typeface="JetBrains Mono"/>
                <a:ea typeface="JetBrains Mono"/>
              </a:rPr>
              <a:t>"UPGRADE_TOWER"</a:t>
            </a: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: {</a:t>
            </a:r>
            <a:br>
              <a:rPr sz="1300"/>
            </a:b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String uniqueId = tokens[</a:t>
            </a:r>
            <a:r>
              <a:rPr lang="en-GB" sz="13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];</a:t>
            </a:r>
            <a:br>
              <a:rPr sz="1300"/>
            </a:b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3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path = Integer.</a:t>
            </a:r>
            <a:r>
              <a:rPr lang="en-GB" sz="130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parseInt</a:t>
            </a: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(tokens[</a:t>
            </a:r>
            <a:r>
              <a:rPr lang="en-GB" sz="13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]);</a:t>
            </a:r>
            <a:br>
              <a:rPr sz="1300"/>
            </a:b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3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level = Integer.</a:t>
            </a:r>
            <a:r>
              <a:rPr lang="en-GB" sz="130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parseInt</a:t>
            </a: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(tokens[</a:t>
            </a:r>
            <a:r>
              <a:rPr lang="en-GB" sz="130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]);</a:t>
            </a:r>
            <a:br>
              <a:rPr sz="1300"/>
            </a:br>
            <a:br>
              <a:rPr sz="1300"/>
            </a:b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upgradeTowerFromNetwork(uniqueId, path, level);</a:t>
            </a:r>
            <a:br>
              <a:rPr sz="1300"/>
            </a:b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3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break</a:t>
            </a: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300"/>
            </a:br>
            <a:r>
              <a:rPr lang="en-GB" sz="13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19"/>
          <p:cNvSpPr/>
          <p:nvPr/>
        </p:nvSpPr>
        <p:spPr>
          <a:xfrm>
            <a:off x="5040000" y="1260000"/>
            <a:ext cx="4860000" cy="198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3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case </a:t>
            </a:r>
            <a:r>
              <a:rPr lang="en-GB" sz="1350" b="0" u="none" strike="noStrike">
                <a:solidFill>
                  <a:srgbClr val="6AAB73"/>
                </a:solidFill>
                <a:effectLst/>
                <a:uFillTx/>
                <a:latin typeface="JetBrains Mono"/>
                <a:ea typeface="JetBrains Mono"/>
              </a:rPr>
              <a:t>"REMOVE_ENTITY"</a:t>
            </a: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: {</a:t>
            </a:r>
            <a:br>
              <a:rPr sz="1350"/>
            </a:b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String entityID = tokens[</a:t>
            </a:r>
            <a:r>
              <a:rPr lang="en-GB" sz="13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];</a:t>
            </a:r>
            <a:br>
              <a:rPr sz="1350"/>
            </a:b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removeEntityFromNetwork(entityID);</a:t>
            </a:r>
            <a:br>
              <a:rPr sz="1350"/>
            </a:b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3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break</a:t>
            </a: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350"/>
            </a:b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lang="en-GB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20"/>
          <p:cNvSpPr/>
          <p:nvPr/>
        </p:nvSpPr>
        <p:spPr>
          <a:xfrm>
            <a:off x="5040000" y="3420000"/>
            <a:ext cx="4860000" cy="21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3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case </a:t>
            </a:r>
            <a:r>
              <a:rPr lang="en-GB" sz="1350" b="0" u="none" strike="noStrike">
                <a:solidFill>
                  <a:srgbClr val="6AAB73"/>
                </a:solidFill>
                <a:effectLst/>
                <a:uFillTx/>
                <a:latin typeface="JetBrains Mono"/>
                <a:ea typeface="JetBrains Mono"/>
              </a:rPr>
              <a:t>"MOVE_ENTITY"</a:t>
            </a: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: {</a:t>
            </a:r>
            <a:br>
              <a:rPr sz="1350"/>
            </a:b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String entityID = tokens[</a:t>
            </a:r>
            <a:r>
              <a:rPr lang="en-GB" sz="13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];</a:t>
            </a:r>
            <a:br>
              <a:rPr sz="1350"/>
            </a:b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3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x = Integer.</a:t>
            </a:r>
            <a:r>
              <a:rPr lang="en-GB" sz="135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parseInt</a:t>
            </a: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(tokens[</a:t>
            </a:r>
            <a:r>
              <a:rPr lang="en-GB" sz="13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]);</a:t>
            </a:r>
            <a:br>
              <a:rPr sz="1350"/>
            </a:b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3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y = Integer.</a:t>
            </a:r>
            <a:r>
              <a:rPr lang="en-GB" sz="135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parseInt</a:t>
            </a: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(tokens[</a:t>
            </a:r>
            <a:r>
              <a:rPr lang="en-GB" sz="13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]);</a:t>
            </a:r>
            <a:br>
              <a:rPr sz="1350"/>
            </a:b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moveEntityFromNetwork(entityID, x, y);</a:t>
            </a:r>
            <a:br>
              <a:rPr sz="1350"/>
            </a:b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13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break</a:t>
            </a: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br>
              <a:rPr sz="1350"/>
            </a:br>
            <a:r>
              <a:rPr lang="en-GB" sz="13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lang="en-GB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52" name="Verbinder: gewinkelt 251"/>
          <p:cNvCxnSpPr>
            <a:stCxn id="248" idx="3"/>
            <a:endCxn id="248" idx="3"/>
          </p:cNvCxnSpPr>
          <p:nvPr/>
        </p:nvCxnSpPr>
        <p:spPr>
          <a:xfrm rot="16200000">
            <a:off x="4680000" y="2250000"/>
            <a:ext cx="360" cy="360"/>
          </a:xfrm>
          <a:prstGeom prst="bentConnector2">
            <a:avLst/>
          </a:prstGeom>
          <a:ln w="0">
            <a:solidFill>
              <a:srgbClr val="3465A4"/>
            </a:solidFill>
            <a:tailEnd type="triangle" w="med" len="med"/>
          </a:ln>
        </p:spPr>
      </p:cxnSp>
      <p:cxnSp>
        <p:nvCxnSpPr>
          <p:cNvPr id="253" name="Verbinder: gewinkelt 252"/>
          <p:cNvCxnSpPr>
            <a:stCxn id="247" idx="2"/>
            <a:endCxn id="252" idx="0"/>
          </p:cNvCxnSpPr>
          <p:nvPr/>
        </p:nvCxnSpPr>
        <p:spPr>
          <a:xfrm rot="5400000">
            <a:off x="4185000" y="1575000"/>
            <a:ext cx="1170360" cy="180360"/>
          </a:xfrm>
          <a:prstGeom prst="bentConnector3">
            <a:avLst>
              <a:gd name="adj1" fmla="val 100000"/>
            </a:avLst>
          </a:prstGeom>
          <a:ln w="19080">
            <a:solidFill>
              <a:srgbClr val="FF0000"/>
            </a:solidFill>
            <a:round/>
            <a:tailEnd type="triangle" w="med" len="med"/>
          </a:ln>
        </p:spPr>
      </p:cxnSp>
      <p:cxnSp>
        <p:nvCxnSpPr>
          <p:cNvPr id="254" name="Verbinder: gewinkelt 253"/>
          <p:cNvCxnSpPr>
            <a:stCxn id="247" idx="2"/>
            <a:endCxn id="250" idx="1"/>
          </p:cNvCxnSpPr>
          <p:nvPr/>
        </p:nvCxnSpPr>
        <p:spPr>
          <a:xfrm rot="16200000" flipH="1">
            <a:off x="4365000" y="1575000"/>
            <a:ext cx="1170360" cy="180360"/>
          </a:xfrm>
          <a:prstGeom prst="bentConnector2">
            <a:avLst/>
          </a:prstGeom>
          <a:ln w="19080">
            <a:solidFill>
              <a:srgbClr val="FF0000"/>
            </a:solidFill>
            <a:round/>
            <a:tailEnd type="triangle" w="med" len="med"/>
          </a:ln>
        </p:spPr>
      </p:cxnSp>
      <p:cxnSp>
        <p:nvCxnSpPr>
          <p:cNvPr id="255" name="Verbinder: gewinkelt 254"/>
          <p:cNvCxnSpPr>
            <a:stCxn id="247" idx="2"/>
            <a:endCxn id="249" idx="3"/>
          </p:cNvCxnSpPr>
          <p:nvPr/>
        </p:nvCxnSpPr>
        <p:spPr>
          <a:xfrm rot="5400000">
            <a:off x="3060000" y="2700000"/>
            <a:ext cx="3420360" cy="180360"/>
          </a:xfrm>
          <a:prstGeom prst="bentConnector4">
            <a:avLst>
              <a:gd name="adj1" fmla="val 34210"/>
              <a:gd name="adj2" fmla="val -200"/>
            </a:avLst>
          </a:prstGeom>
          <a:ln w="19080">
            <a:solidFill>
              <a:srgbClr val="FF0000"/>
            </a:solidFill>
            <a:round/>
            <a:tailEnd type="triangle" w="med" len="med"/>
          </a:ln>
        </p:spPr>
      </p:cxnSp>
      <p:cxnSp>
        <p:nvCxnSpPr>
          <p:cNvPr id="256" name="Verbinder: gewinkelt 255"/>
          <p:cNvCxnSpPr>
            <a:stCxn id="247" idx="2"/>
            <a:endCxn id="251" idx="1"/>
          </p:cNvCxnSpPr>
          <p:nvPr/>
        </p:nvCxnSpPr>
        <p:spPr>
          <a:xfrm rot="16200000" flipH="1">
            <a:off x="3240000" y="2700000"/>
            <a:ext cx="3420360" cy="180360"/>
          </a:xfrm>
          <a:prstGeom prst="bentConnector4">
            <a:avLst>
              <a:gd name="adj1" fmla="val 34210"/>
              <a:gd name="adj2" fmla="val -200"/>
            </a:avLst>
          </a:prstGeom>
          <a:ln w="0">
            <a:solidFill>
              <a:srgbClr val="FF0000"/>
            </a:solidFill>
            <a:tailEnd type="triangle" w="med" len="med"/>
          </a:ln>
        </p:spPr>
      </p:cxn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CB65C90-43AB-01C8-27A3-1449C0730FB5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53"/>
          <p:cNvSpPr/>
          <p:nvPr/>
        </p:nvSpPr>
        <p:spPr>
          <a:xfrm>
            <a:off x="5580000" y="1080000"/>
            <a:ext cx="3960000" cy="3960000"/>
          </a:xfrm>
          <a:prstGeom prst="roundRect">
            <a:avLst>
              <a:gd name="adj" fmla="val 3031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51"/>
          <p:cNvSpPr/>
          <p:nvPr/>
        </p:nvSpPr>
        <p:spPr>
          <a:xfrm>
            <a:off x="3420000" y="72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 Easter Egg: Credits</a:t>
            </a:r>
          </a:p>
        </p:txBody>
      </p:sp>
      <p:sp>
        <p:nvSpPr>
          <p:cNvPr id="259" name="Shape 52"/>
          <p:cNvSpPr/>
          <p:nvPr/>
        </p:nvSpPr>
        <p:spPr>
          <a:xfrm>
            <a:off x="180000" y="1800000"/>
            <a:ext cx="4428000" cy="21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Gambling: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Erstellt die Glücksspiel-Welt mit den drei Slots.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GamblingWonCredits: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Zeigt die Credits nach dem Gewinnen an.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SlotMachineButton: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Button zum Starten des Glücksspiels.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0" name="Grafik 259"/>
          <p:cNvPicPr/>
          <p:nvPr/>
        </p:nvPicPr>
        <p:blipFill>
          <a:blip r:embed="rId2"/>
          <a:stretch/>
        </p:blipFill>
        <p:spPr>
          <a:xfrm>
            <a:off x="5760000" y="1260000"/>
            <a:ext cx="3600000" cy="360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5D65149-B843-35E3-BF5A-C9904B5E16A3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49"/>
          <p:cNvSpPr/>
          <p:nvPr/>
        </p:nvSpPr>
        <p:spPr>
          <a:xfrm>
            <a:off x="3420000" y="72000"/>
            <a:ext cx="3240000" cy="3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JetBrainsMono NF Light"/>
              </a:rPr>
              <a:t>  Easter Egg: Credits</a:t>
            </a:r>
          </a:p>
        </p:txBody>
      </p:sp>
      <p:sp>
        <p:nvSpPr>
          <p:cNvPr id="262" name="Shape 50"/>
          <p:cNvSpPr/>
          <p:nvPr/>
        </p:nvSpPr>
        <p:spPr>
          <a:xfrm>
            <a:off x="432000" y="540000"/>
            <a:ext cx="9288000" cy="48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7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public void </a:t>
            </a:r>
            <a:r>
              <a:rPr lang="en-GB" sz="75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onClick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() {</a:t>
            </a: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Gambling world = (Gambling) getWorld();</a:t>
            </a: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getWorld().showText(</a:t>
            </a:r>
            <a:r>
              <a:rPr lang="en-GB" sz="750" b="0" u="none" strike="noStrike">
                <a:solidFill>
                  <a:srgbClr val="6AAB73"/>
                </a:solidFill>
                <a:effectLst/>
                <a:uFillTx/>
                <a:latin typeface="JetBrains Mono"/>
                <a:ea typeface="JetBrains Mono"/>
              </a:rPr>
              <a:t>""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lang="en-GB" sz="7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14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lang="en-GB" sz="7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24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750"/>
            </a:b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ImageDisplay[] slots = </a:t>
            </a:r>
            <a:r>
              <a:rPr lang="en-GB" sz="7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new 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ImageDisplay[]{</a:t>
            </a: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world.getSlot1(),</a:t>
            </a: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world.getSlot2(),</a:t>
            </a: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world.getSlot3()</a:t>
            </a: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};</a:t>
            </a:r>
            <a:br>
              <a:rPr sz="750"/>
            </a:br>
            <a:br>
              <a:rPr sz="750"/>
            </a:b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GreenfootImage[] images = </a:t>
            </a:r>
            <a:r>
              <a:rPr lang="en-GB" sz="7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new 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GreenfootImage[]{</a:t>
            </a: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world.getSlot1().getImage(),</a:t>
            </a: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world.getSlot2().getImage(),</a:t>
            </a: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world.getSlot3().getImage()</a:t>
            </a: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};</a:t>
            </a:r>
            <a:br>
              <a:rPr sz="750"/>
            </a:br>
            <a:br>
              <a:rPr sz="750"/>
            </a:b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7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stop = Greenfoot.</a:t>
            </a:r>
            <a:r>
              <a:rPr lang="en-GB" sz="75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getRandomNumber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7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45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7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7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i = </a:t>
            </a:r>
            <a:r>
              <a:rPr lang="en-GB" sz="7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 i &lt; stop; i++) {</a:t>
            </a:r>
            <a:br>
              <a:rPr sz="750"/>
            </a:br>
            <a:br>
              <a:rPr sz="750"/>
            </a:b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</a:t>
            </a:r>
            <a:r>
              <a:rPr lang="en-GB" sz="7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for 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7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j = </a:t>
            </a:r>
            <a:r>
              <a:rPr lang="en-GB" sz="7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 j &lt; </a:t>
            </a:r>
            <a:r>
              <a:rPr lang="en-GB" sz="7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; j++) {</a:t>
            </a: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    </a:t>
            </a:r>
            <a:r>
              <a:rPr lang="en-GB" sz="7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int 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random = Greenfoot.</a:t>
            </a:r>
            <a:r>
              <a:rPr lang="en-GB" sz="75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getRandomNumber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7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    slots[j].setImage(images[random]);</a:t>
            </a: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    Greenfoot.</a:t>
            </a:r>
            <a:r>
              <a:rPr lang="en-GB" sz="75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delay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7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750"/>
            </a:b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}</a:t>
            </a:r>
            <a:br>
              <a:rPr sz="750"/>
            </a:br>
            <a:br>
              <a:rPr sz="750"/>
            </a:b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GB" sz="7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if 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(slots[</a:t>
            </a:r>
            <a:r>
              <a:rPr lang="en-GB" sz="7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].getImage().equals(slots[</a:t>
            </a:r>
            <a:r>
              <a:rPr lang="en-GB" sz="7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].getImage()) &amp;&amp; slots[</a:t>
            </a:r>
            <a:r>
              <a:rPr lang="en-GB" sz="7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0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].getImage().equals(slots[</a:t>
            </a:r>
            <a:r>
              <a:rPr lang="en-GB" sz="7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].getImage())) {</a:t>
            </a: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Greenfoot.</a:t>
            </a:r>
            <a:r>
              <a:rPr lang="en-GB" sz="75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delay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7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20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750"/>
            </a:b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Greenfoot.</a:t>
            </a:r>
            <a:r>
              <a:rPr lang="en-GB" sz="750" b="0" i="1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setWorld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GB" sz="7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new 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GamblingWonCredits());</a:t>
            </a: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} </a:t>
            </a:r>
            <a:r>
              <a:rPr lang="en-GB" sz="75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else 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getWorld().showText(</a:t>
            </a:r>
            <a:r>
              <a:rPr lang="en-GB" sz="750" b="0" u="none" strike="noStrike">
                <a:solidFill>
                  <a:srgbClr val="6AAB73"/>
                </a:solidFill>
                <a:effectLst/>
                <a:uFillTx/>
                <a:latin typeface="JetBrains Mono"/>
                <a:ea typeface="JetBrains Mono"/>
              </a:rPr>
              <a:t>"You loose. Try again"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lang="en-GB" sz="7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14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lang="en-GB" sz="750" b="0" u="none" strike="noStrike">
                <a:solidFill>
                  <a:srgbClr val="2AACB8"/>
                </a:solidFill>
                <a:effectLst/>
                <a:uFillTx/>
                <a:latin typeface="JetBrains Mono"/>
                <a:ea typeface="JetBrains Mono"/>
              </a:rPr>
              <a:t>24</a:t>
            </a: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750"/>
            </a:br>
            <a:br>
              <a:rPr sz="750"/>
            </a:b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750"/>
            </a:br>
            <a:br>
              <a:rPr sz="750"/>
            </a:br>
            <a:r>
              <a:rPr lang="en-GB" sz="75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lang="en-GB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feld 262"/>
          <p:cNvSpPr txBox="1"/>
          <p:nvPr/>
        </p:nvSpPr>
        <p:spPr>
          <a:xfrm>
            <a:off x="432000" y="360000"/>
            <a:ext cx="1952640" cy="2322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en-GB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SlotMachineButtonGamble.java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9ABA3D7-50BB-FB7C-56D4-A632FD82FF16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102"/>
          <p:cNvSpPr/>
          <p:nvPr/>
        </p:nvSpPr>
        <p:spPr>
          <a:xfrm>
            <a:off x="1260000" y="1800000"/>
            <a:ext cx="8460000" cy="2160000"/>
          </a:xfrm>
          <a:prstGeom prst="roundRect">
            <a:avLst>
              <a:gd name="adj" fmla="val 1778"/>
            </a:avLst>
          </a:prstGeom>
          <a:solidFill>
            <a:srgbClr val="1216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5" name="Grafik 26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600000" y="0"/>
            <a:ext cx="3595680" cy="566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6" name="Textfeld 265"/>
          <p:cNvSpPr txBox="1"/>
          <p:nvPr/>
        </p:nvSpPr>
        <p:spPr>
          <a:xfrm>
            <a:off x="1980000" y="2520000"/>
            <a:ext cx="107028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en-GB" sz="3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Noch</a:t>
            </a:r>
          </a:p>
        </p:txBody>
      </p:sp>
      <p:sp>
        <p:nvSpPr>
          <p:cNvPr id="267" name="Textfeld 266"/>
          <p:cNvSpPr txBox="1"/>
          <p:nvPr/>
        </p:nvSpPr>
        <p:spPr>
          <a:xfrm>
            <a:off x="7760160" y="2520000"/>
            <a:ext cx="159984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en-GB" sz="3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Fragen?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8D916A8-DEEB-FE5C-6945-CDBDCF010812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B51F4C-7A02-4C82-83D5-5ED673FE9AF6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2452</Words>
  <Application>Microsoft Office PowerPoint</Application>
  <PresentationFormat>Benutzerdefiniert</PresentationFormat>
  <Paragraphs>227</Paragraphs>
  <Slides>38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38</vt:i4>
      </vt:variant>
      <vt:variant>
        <vt:lpstr>Zielgruppenorientierte Präsentationen</vt:lpstr>
      </vt:variant>
      <vt:variant>
        <vt:i4>1</vt:i4>
      </vt:variant>
    </vt:vector>
  </HeadingPairs>
  <TitlesOfParts>
    <vt:vector size="49" baseType="lpstr">
      <vt:lpstr>Aptos</vt:lpstr>
      <vt:lpstr>Arial</vt:lpstr>
      <vt:lpstr>Courier New</vt:lpstr>
      <vt:lpstr>JetBrains Mono</vt:lpstr>
      <vt:lpstr>JetBrainsMono NF Light</vt:lpstr>
      <vt:lpstr>JetBrainsMonoNL NFM Light</vt:lpstr>
      <vt:lpstr>Symbol</vt:lpstr>
      <vt:lpstr>Times New Roman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New Custom Slide Show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colin duhig</cp:lastModifiedBy>
  <cp:revision>21</cp:revision>
  <dcterms:created xsi:type="dcterms:W3CDTF">2026-08-31T17:48:39Z</dcterms:created>
  <dcterms:modified xsi:type="dcterms:W3CDTF">2026-08-31T21:26:51Z</dcterms:modified>
  <dc:language>en-GB</dc:language>
</cp:coreProperties>
</file>